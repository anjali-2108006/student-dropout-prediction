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9" r:id="rId4"/>
    <p:sldId id="260" r:id="rId5"/>
    <p:sldId id="261" r:id="rId6"/>
    <p:sldId id="265" r:id="rId7"/>
    <p:sldId id="266" r:id="rId8"/>
    <p:sldId id="267" r:id="rId9"/>
    <p:sldId id="268" r:id="rId10"/>
    <p:sldId id="262" r:id="rId11"/>
    <p:sldId id="263" r:id="rId12"/>
    <p:sldId id="264" r:id="rId13"/>
  </p:sldIdLst>
  <p:sldSz cx="18288000" cy="10287000"/>
  <p:notesSz cx="6858000" cy="9144000"/>
  <p:embeddedFontLst>
    <p:embeddedFont>
      <p:font typeface="Lora" pitchFamily="2" charset="0"/>
      <p:regular r:id="rId14"/>
    </p:embeddedFont>
    <p:embeddedFont>
      <p:font typeface="Lora Bold" panose="020B0604020202020204" charset="0"/>
      <p:regular r:id="rId15"/>
    </p:embeddedFont>
    <p:embeddedFont>
      <p:font typeface="Lora Italics"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jpg"/><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image" Target="../media/image7.svg"/><Relationship Id="rId7"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9.sv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svg"/><Relationship Id="rId7" Type="http://schemas.openxmlformats.org/officeDocument/2006/relationships/image" Target="../media/image17.svg"/><Relationship Id="rId12" Type="http://schemas.openxmlformats.org/officeDocument/2006/relationships/image" Target="../media/image20.jp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19.jpeg"/><Relationship Id="rId5" Type="http://schemas.openxmlformats.org/officeDocument/2006/relationships/image" Target="../media/image15.png"/><Relationship Id="rId10" Type="http://schemas.openxmlformats.org/officeDocument/2006/relationships/image" Target="../media/image18.jpg"/><Relationship Id="rId4" Type="http://schemas.openxmlformats.org/officeDocument/2006/relationships/image" Target="../media/image14.jpeg"/><Relationship Id="rId9"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0.jpg"/><Relationship Id="rId4" Type="http://schemas.openxmlformats.org/officeDocument/2006/relationships/image" Target="../media/image25.jpeg"/></Relationships>
</file>

<file path=ppt/slides/_rels/slide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7.svg"/><Relationship Id="rId7" Type="http://schemas.openxmlformats.org/officeDocument/2006/relationships/image" Target="../media/image34.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 Id="rId9" Type="http://schemas.openxmlformats.org/officeDocument/2006/relationships/image" Target="../media/image17.svg"/></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35.jpg"/><Relationship Id="rId5" Type="http://schemas.openxmlformats.org/officeDocument/2006/relationships/image" Target="../media/image17.sv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318441" y="9258300"/>
            <a:ext cx="9727319" cy="3106962"/>
          </a:xfrm>
          <a:custGeom>
            <a:avLst/>
            <a:gdLst/>
            <a:ahLst/>
            <a:cxnLst/>
            <a:rect l="l" t="t" r="r" b="b"/>
            <a:pathLst>
              <a:path w="9727319" h="3106962">
                <a:moveTo>
                  <a:pt x="0" y="0"/>
                </a:moveTo>
                <a:lnTo>
                  <a:pt x="9727318" y="0"/>
                </a:lnTo>
                <a:lnTo>
                  <a:pt x="9727318" y="3106962"/>
                </a:lnTo>
                <a:lnTo>
                  <a:pt x="0" y="31069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678466" y="4318666"/>
            <a:ext cx="5264142" cy="5022000"/>
          </a:xfrm>
          <a:custGeom>
            <a:avLst/>
            <a:gdLst/>
            <a:ahLst/>
            <a:cxnLst/>
            <a:rect l="l" t="t" r="r" b="b"/>
            <a:pathLst>
              <a:path w="5750608" h="5750608">
                <a:moveTo>
                  <a:pt x="0" y="0"/>
                </a:moveTo>
                <a:lnTo>
                  <a:pt x="5750608" y="0"/>
                </a:lnTo>
                <a:lnTo>
                  <a:pt x="5750608" y="5750608"/>
                </a:lnTo>
                <a:lnTo>
                  <a:pt x="0" y="5750608"/>
                </a:lnTo>
                <a:lnTo>
                  <a:pt x="0" y="0"/>
                </a:lnTo>
                <a:close/>
              </a:path>
            </a:pathLst>
          </a:custGeom>
          <a:blipFill>
            <a:blip r:embed="rId4"/>
            <a:stretch>
              <a:fillRect/>
            </a:stretch>
          </a:blipFill>
        </p:spPr>
      </p:sp>
      <p:sp>
        <p:nvSpPr>
          <p:cNvPr id="4" name="Freeform 4"/>
          <p:cNvSpPr/>
          <p:nvPr/>
        </p:nvSpPr>
        <p:spPr>
          <a:xfrm>
            <a:off x="15228654" y="11515"/>
            <a:ext cx="2256681" cy="2256681"/>
          </a:xfrm>
          <a:custGeom>
            <a:avLst/>
            <a:gdLst/>
            <a:ahLst/>
            <a:cxnLst/>
            <a:rect l="l" t="t" r="r" b="b"/>
            <a:pathLst>
              <a:path w="2256681" h="2256681">
                <a:moveTo>
                  <a:pt x="0" y="0"/>
                </a:moveTo>
                <a:lnTo>
                  <a:pt x="2256681" y="0"/>
                </a:lnTo>
                <a:lnTo>
                  <a:pt x="2256681" y="2256681"/>
                </a:lnTo>
                <a:lnTo>
                  <a:pt x="0" y="2256681"/>
                </a:lnTo>
                <a:lnTo>
                  <a:pt x="0" y="0"/>
                </a:lnTo>
                <a:close/>
              </a:path>
            </a:pathLst>
          </a:custGeom>
          <a:blipFill>
            <a:blip r:embed="rId5"/>
            <a:stretch>
              <a:fillRect/>
            </a:stretch>
          </a:blipFill>
        </p:spPr>
      </p:sp>
      <p:sp>
        <p:nvSpPr>
          <p:cNvPr id="5" name="Freeform 5"/>
          <p:cNvSpPr/>
          <p:nvPr/>
        </p:nvSpPr>
        <p:spPr>
          <a:xfrm>
            <a:off x="1028700" y="77550"/>
            <a:ext cx="2180278" cy="2124611"/>
          </a:xfrm>
          <a:custGeom>
            <a:avLst/>
            <a:gdLst/>
            <a:ahLst/>
            <a:cxnLst/>
            <a:rect l="l" t="t" r="r" b="b"/>
            <a:pathLst>
              <a:path w="2180278" h="2124611">
                <a:moveTo>
                  <a:pt x="0" y="0"/>
                </a:moveTo>
                <a:lnTo>
                  <a:pt x="2180278" y="0"/>
                </a:lnTo>
                <a:lnTo>
                  <a:pt x="2180278" y="2124611"/>
                </a:lnTo>
                <a:lnTo>
                  <a:pt x="0" y="2124611"/>
                </a:lnTo>
                <a:lnTo>
                  <a:pt x="0" y="0"/>
                </a:lnTo>
                <a:close/>
              </a:path>
            </a:pathLst>
          </a:custGeom>
          <a:blipFill>
            <a:blip r:embed="rId6"/>
            <a:stretch>
              <a:fillRect/>
            </a:stretch>
          </a:blipFill>
        </p:spPr>
      </p:sp>
      <p:sp>
        <p:nvSpPr>
          <p:cNvPr id="6" name="TextBox 6"/>
          <p:cNvSpPr txBox="1"/>
          <p:nvPr/>
        </p:nvSpPr>
        <p:spPr>
          <a:xfrm>
            <a:off x="4764520" y="2182185"/>
            <a:ext cx="8544752" cy="1588129"/>
          </a:xfrm>
          <a:prstGeom prst="rect">
            <a:avLst/>
          </a:prstGeom>
        </p:spPr>
        <p:txBody>
          <a:bodyPr lIns="0" tIns="0" rIns="0" bIns="0" rtlCol="0" anchor="t">
            <a:spAutoFit/>
          </a:bodyPr>
          <a:lstStyle/>
          <a:p>
            <a:pPr>
              <a:lnSpc>
                <a:spcPts val="11926"/>
              </a:lnSpc>
            </a:pPr>
            <a:r>
              <a:rPr lang="en-US" sz="12047" dirty="0">
                <a:solidFill>
                  <a:srgbClr val="004AAD"/>
                </a:solidFill>
                <a:latin typeface="Lora Bold"/>
              </a:rPr>
              <a:t>SKILL BEE</a:t>
            </a:r>
          </a:p>
        </p:txBody>
      </p:sp>
      <p:sp>
        <p:nvSpPr>
          <p:cNvPr id="7" name="TextBox 7"/>
          <p:cNvSpPr txBox="1"/>
          <p:nvPr/>
        </p:nvSpPr>
        <p:spPr>
          <a:xfrm>
            <a:off x="4871624" y="3784655"/>
            <a:ext cx="8544752" cy="384810"/>
          </a:xfrm>
          <a:prstGeom prst="rect">
            <a:avLst/>
          </a:prstGeom>
        </p:spPr>
        <p:txBody>
          <a:bodyPr lIns="0" tIns="0" rIns="0" bIns="0" rtlCol="0" anchor="t">
            <a:spAutoFit/>
          </a:bodyPr>
          <a:lstStyle/>
          <a:p>
            <a:pPr>
              <a:lnSpc>
                <a:spcPts val="2970"/>
              </a:lnSpc>
            </a:pPr>
            <a:r>
              <a:rPr lang="en-US" sz="3000" dirty="0">
                <a:solidFill>
                  <a:srgbClr val="2E2E2E"/>
                </a:solidFill>
                <a:latin typeface="Lora Bold"/>
              </a:rPr>
              <a:t>NURTURING SKILLS, BUILDING SUCCESS.</a:t>
            </a:r>
          </a:p>
        </p:txBody>
      </p:sp>
      <p:grpSp>
        <p:nvGrpSpPr>
          <p:cNvPr id="8" name="Group 8"/>
          <p:cNvGrpSpPr/>
          <p:nvPr/>
        </p:nvGrpSpPr>
        <p:grpSpPr>
          <a:xfrm>
            <a:off x="3869332" y="77550"/>
            <a:ext cx="10698968" cy="1572260"/>
            <a:chOff x="0" y="0"/>
            <a:chExt cx="14265290" cy="2096347"/>
          </a:xfrm>
        </p:grpSpPr>
        <p:sp>
          <p:nvSpPr>
            <p:cNvPr id="9" name="TextBox 9"/>
            <p:cNvSpPr txBox="1"/>
            <p:nvPr/>
          </p:nvSpPr>
          <p:spPr>
            <a:xfrm>
              <a:off x="0" y="-57150"/>
              <a:ext cx="14265290" cy="742104"/>
            </a:xfrm>
            <a:prstGeom prst="rect">
              <a:avLst/>
            </a:prstGeom>
          </p:spPr>
          <p:txBody>
            <a:bodyPr lIns="0" tIns="0" rIns="0" bIns="0" rtlCol="0" anchor="t">
              <a:spAutoFit/>
            </a:bodyPr>
            <a:lstStyle/>
            <a:p>
              <a:pPr>
                <a:lnSpc>
                  <a:spcPts val="4759"/>
                </a:lnSpc>
              </a:pPr>
              <a:r>
                <a:rPr lang="en-US" sz="3399" spc="33">
                  <a:solidFill>
                    <a:srgbClr val="000000"/>
                  </a:solidFill>
                  <a:latin typeface="Lora Bold"/>
                </a:rPr>
                <a:t>Madanapalle Institute of Technology and Science</a:t>
              </a:r>
            </a:p>
          </p:txBody>
        </p:sp>
        <p:sp>
          <p:nvSpPr>
            <p:cNvPr id="10" name="TextBox 10"/>
            <p:cNvSpPr txBox="1"/>
            <p:nvPr/>
          </p:nvSpPr>
          <p:spPr>
            <a:xfrm>
              <a:off x="2268132" y="646854"/>
              <a:ext cx="7658409" cy="515620"/>
            </a:xfrm>
            <a:prstGeom prst="rect">
              <a:avLst/>
            </a:prstGeom>
          </p:spPr>
          <p:txBody>
            <a:bodyPr lIns="0" tIns="0" rIns="0" bIns="0" rtlCol="0" anchor="t">
              <a:spAutoFit/>
            </a:bodyPr>
            <a:lstStyle/>
            <a:p>
              <a:pPr>
                <a:lnSpc>
                  <a:spcPts val="3360"/>
                </a:lnSpc>
              </a:pPr>
              <a:r>
                <a:rPr lang="en-US" sz="2400" spc="24">
                  <a:solidFill>
                    <a:srgbClr val="000000"/>
                  </a:solidFill>
                  <a:latin typeface="Lora Bold"/>
                </a:rPr>
                <a:t>(UGC-AUTONOMOUS INSTITUTION)</a:t>
              </a:r>
            </a:p>
          </p:txBody>
        </p:sp>
        <p:sp>
          <p:nvSpPr>
            <p:cNvPr id="11" name="TextBox 11"/>
            <p:cNvSpPr txBox="1"/>
            <p:nvPr/>
          </p:nvSpPr>
          <p:spPr>
            <a:xfrm>
              <a:off x="1193584" y="1197399"/>
              <a:ext cx="10551927" cy="898948"/>
            </a:xfrm>
            <a:prstGeom prst="rect">
              <a:avLst/>
            </a:prstGeom>
          </p:spPr>
          <p:txBody>
            <a:bodyPr lIns="0" tIns="0" rIns="0" bIns="0" rtlCol="0" anchor="t">
              <a:spAutoFit/>
            </a:bodyPr>
            <a:lstStyle/>
            <a:p>
              <a:pPr algn="ctr">
                <a:lnSpc>
                  <a:spcPts val="1820"/>
                </a:lnSpc>
              </a:pPr>
              <a:r>
                <a:rPr lang="en-US" sz="1300" spc="13" dirty="0" err="1">
                  <a:solidFill>
                    <a:srgbClr val="000000"/>
                  </a:solidFill>
                  <a:latin typeface="Lora Bold"/>
                </a:rPr>
                <a:t>Affliated</a:t>
              </a:r>
              <a:r>
                <a:rPr lang="en-US" sz="1300" spc="13" dirty="0">
                  <a:solidFill>
                    <a:srgbClr val="000000"/>
                  </a:solidFill>
                  <a:latin typeface="Lora Bold"/>
                </a:rPr>
                <a:t> to JNTUA, </a:t>
              </a:r>
              <a:r>
                <a:rPr lang="en-US" sz="1300" spc="13" dirty="0" err="1">
                  <a:solidFill>
                    <a:srgbClr val="000000"/>
                  </a:solidFill>
                  <a:latin typeface="Lora Bold"/>
                </a:rPr>
                <a:t>Ananthapuramu</a:t>
              </a:r>
              <a:r>
                <a:rPr lang="en-US" sz="1300" spc="13" dirty="0">
                  <a:solidFill>
                    <a:srgbClr val="000000"/>
                  </a:solidFill>
                  <a:latin typeface="Lora Bold"/>
                </a:rPr>
                <a:t> &amp; Approved by AICTE, New Delhi</a:t>
              </a:r>
            </a:p>
            <a:p>
              <a:pPr algn="ctr">
                <a:lnSpc>
                  <a:spcPts val="1820"/>
                </a:lnSpc>
              </a:pPr>
              <a:r>
                <a:rPr lang="en-US" sz="1300" spc="13" dirty="0">
                  <a:solidFill>
                    <a:srgbClr val="000000"/>
                  </a:solidFill>
                  <a:latin typeface="Lora Bold"/>
                </a:rPr>
                <a:t>NAAC Accredited with A+ Grade, NIRF India Rankings 2021-Band:201-250 (</a:t>
              </a:r>
              <a:r>
                <a:rPr lang="en-US" sz="1300" spc="13" dirty="0" err="1">
                  <a:solidFill>
                    <a:srgbClr val="000000"/>
                  </a:solidFill>
                  <a:latin typeface="Lora Bold"/>
                </a:rPr>
                <a:t>Engg</a:t>
              </a:r>
              <a:r>
                <a:rPr lang="en-US" sz="1300" spc="13" dirty="0">
                  <a:solidFill>
                    <a:srgbClr val="000000"/>
                  </a:solidFill>
                  <a:latin typeface="Lora Bold"/>
                </a:rPr>
                <a:t>.)</a:t>
              </a:r>
            </a:p>
            <a:p>
              <a:pPr algn="ctr">
                <a:lnSpc>
                  <a:spcPts val="1820"/>
                </a:lnSpc>
              </a:pPr>
              <a:r>
                <a:rPr lang="en-US" sz="1300" spc="13" dirty="0">
                  <a:solidFill>
                    <a:srgbClr val="000000"/>
                  </a:solidFill>
                  <a:latin typeface="Lora Bold"/>
                </a:rPr>
                <a:t>NBA Accredited - </a:t>
              </a:r>
              <a:r>
                <a:rPr lang="en-US" sz="1300" spc="13" dirty="0" err="1">
                  <a:solidFill>
                    <a:srgbClr val="000000"/>
                  </a:solidFill>
                  <a:latin typeface="Lora Bold"/>
                </a:rPr>
                <a:t>B.Tech</a:t>
              </a:r>
              <a:r>
                <a:rPr lang="en-US" sz="1300" spc="13" dirty="0">
                  <a:solidFill>
                    <a:srgbClr val="000000"/>
                  </a:solidFill>
                  <a:latin typeface="Lora Bold"/>
                </a:rPr>
                <a:t> (CIVIL, CSE, ECE, EEE, MECH), MBA &amp; MCA</a:t>
              </a:r>
            </a:p>
          </p:txBody>
        </p:sp>
      </p:grpSp>
      <p:sp>
        <p:nvSpPr>
          <p:cNvPr id="13" name="TextBox 12">
            <a:extLst>
              <a:ext uri="{FF2B5EF4-FFF2-40B4-BE49-F238E27FC236}">
                <a16:creationId xmlns:a16="http://schemas.microsoft.com/office/drawing/2014/main" id="{A694121D-1E27-F67A-AFF3-5A7A487D6C8B}"/>
              </a:ext>
            </a:extLst>
          </p:cNvPr>
          <p:cNvSpPr txBox="1"/>
          <p:nvPr/>
        </p:nvSpPr>
        <p:spPr>
          <a:xfrm>
            <a:off x="998431" y="5629714"/>
            <a:ext cx="9144000" cy="3050835"/>
          </a:xfrm>
          <a:prstGeom prst="rect">
            <a:avLst/>
          </a:prstGeom>
          <a:noFill/>
        </p:spPr>
        <p:txBody>
          <a:bodyPr wrap="square">
            <a:spAutoFit/>
          </a:bodyPr>
          <a:lstStyle/>
          <a:p>
            <a:pPr>
              <a:lnSpc>
                <a:spcPts val="4701"/>
              </a:lnSpc>
            </a:pPr>
            <a:r>
              <a:rPr lang="en-US" sz="2900" dirty="0">
                <a:solidFill>
                  <a:srgbClr val="2E2E2E"/>
                </a:solidFill>
                <a:latin typeface="Lora"/>
              </a:rPr>
              <a:t>In Skill bee club, students will be functioning as mentors for other students, which means that if one student is knowledgeable about a particular skill or certain talent, He or she will be sharing that skill with other students</a:t>
            </a:r>
          </a:p>
        </p:txBody>
      </p:sp>
      <p:sp>
        <p:nvSpPr>
          <p:cNvPr id="15" name="TextBox 14">
            <a:extLst>
              <a:ext uri="{FF2B5EF4-FFF2-40B4-BE49-F238E27FC236}">
                <a16:creationId xmlns:a16="http://schemas.microsoft.com/office/drawing/2014/main" id="{083AA7AE-44AD-D42E-56D5-5E4E31B36745}"/>
              </a:ext>
            </a:extLst>
          </p:cNvPr>
          <p:cNvSpPr txBox="1"/>
          <p:nvPr/>
        </p:nvSpPr>
        <p:spPr>
          <a:xfrm>
            <a:off x="1028700" y="4592941"/>
            <a:ext cx="9144000" cy="1076577"/>
          </a:xfrm>
          <a:prstGeom prst="rect">
            <a:avLst/>
          </a:prstGeom>
          <a:noFill/>
        </p:spPr>
        <p:txBody>
          <a:bodyPr wrap="square">
            <a:spAutoFit/>
          </a:bodyPr>
          <a:lstStyle/>
          <a:p>
            <a:pPr>
              <a:lnSpc>
                <a:spcPts val="9000"/>
              </a:lnSpc>
            </a:pPr>
            <a:r>
              <a:rPr lang="en-US" sz="3600" dirty="0">
                <a:solidFill>
                  <a:srgbClr val="004AAD"/>
                </a:solidFill>
                <a:latin typeface="Lora Bold"/>
              </a:rPr>
              <a:t>ABOUT CLUB</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 calcmode="lin" valueType="num">
                                      <p:cBhvr additive="base">
                                        <p:cTn id="24" dur="500" fill="hold"/>
                                        <p:tgtEl>
                                          <p:spTgt spid="15"/>
                                        </p:tgtEl>
                                        <p:attrNameLst>
                                          <p:attrName>ppt_x</p:attrName>
                                        </p:attrNameLst>
                                      </p:cBhvr>
                                      <p:tavLst>
                                        <p:tav tm="0">
                                          <p:val>
                                            <p:strVal val="#ppt_x"/>
                                          </p:val>
                                        </p:tav>
                                        <p:tav tm="100000">
                                          <p:val>
                                            <p:strVal val="#ppt_x"/>
                                          </p:val>
                                        </p:tav>
                                      </p:tavLst>
                                    </p:anim>
                                    <p:anim calcmode="lin" valueType="num">
                                      <p:cBhvr additive="base">
                                        <p:cTn id="25" dur="500" fill="hold"/>
                                        <p:tgtEl>
                                          <p:spTgt spid="15"/>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additive="base">
                                        <p:cTn id="28" dur="500" fill="hold"/>
                                        <p:tgtEl>
                                          <p:spTgt spid="13"/>
                                        </p:tgtEl>
                                        <p:attrNameLst>
                                          <p:attrName>ppt_x</p:attrName>
                                        </p:attrNameLst>
                                      </p:cBhvr>
                                      <p:tavLst>
                                        <p:tav tm="0">
                                          <p:val>
                                            <p:strVal val="#ppt_x"/>
                                          </p:val>
                                        </p:tav>
                                        <p:tav tm="100000">
                                          <p:val>
                                            <p:strVal val="#ppt_x"/>
                                          </p:val>
                                        </p:tav>
                                      </p:tavLst>
                                    </p:anim>
                                    <p:anim calcmode="lin" valueType="num">
                                      <p:cBhvr additive="base">
                                        <p:cTn id="2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3"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085749">
            <a:off x="-5690637" y="-3861861"/>
            <a:ext cx="14345355" cy="14345355"/>
          </a:xfrm>
          <a:custGeom>
            <a:avLst/>
            <a:gdLst/>
            <a:ahLst/>
            <a:cxnLst/>
            <a:rect l="l" t="t" r="r" b="b"/>
            <a:pathLst>
              <a:path w="14345355" h="14345355">
                <a:moveTo>
                  <a:pt x="0" y="0"/>
                </a:moveTo>
                <a:lnTo>
                  <a:pt x="14345355" y="0"/>
                </a:lnTo>
                <a:lnTo>
                  <a:pt x="14345355" y="14345355"/>
                </a:lnTo>
                <a:lnTo>
                  <a:pt x="0" y="14345355"/>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3" name="Freeform 3"/>
          <p:cNvSpPr/>
          <p:nvPr/>
        </p:nvSpPr>
        <p:spPr>
          <a:xfrm rot="-1799293">
            <a:off x="12170918" y="-745657"/>
            <a:ext cx="6885296" cy="11055409"/>
          </a:xfrm>
          <a:custGeom>
            <a:avLst/>
            <a:gdLst/>
            <a:ahLst/>
            <a:cxnLst/>
            <a:rect l="l" t="t" r="r" b="b"/>
            <a:pathLst>
              <a:path w="6885296" h="11055409">
                <a:moveTo>
                  <a:pt x="0" y="0"/>
                </a:moveTo>
                <a:lnTo>
                  <a:pt x="6885296" y="0"/>
                </a:lnTo>
                <a:lnTo>
                  <a:pt x="6885296" y="11055409"/>
                </a:lnTo>
                <a:lnTo>
                  <a:pt x="0" y="11055409"/>
                </a:lnTo>
                <a:lnTo>
                  <a:pt x="0" y="0"/>
                </a:lnTo>
                <a:close/>
              </a:path>
            </a:pathLst>
          </a:custGeom>
          <a:blipFill>
            <a:blip r:embed="rId4">
              <a:alphaModFix amt="50000"/>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1028700" y="1368039"/>
            <a:ext cx="4859468" cy="1209675"/>
          </a:xfrm>
          <a:prstGeom prst="rect">
            <a:avLst/>
          </a:prstGeom>
        </p:spPr>
        <p:txBody>
          <a:bodyPr lIns="0" tIns="0" rIns="0" bIns="0" rtlCol="0" anchor="t">
            <a:spAutoFit/>
          </a:bodyPr>
          <a:lstStyle/>
          <a:p>
            <a:pPr>
              <a:lnSpc>
                <a:spcPts val="9000"/>
              </a:lnSpc>
            </a:pPr>
            <a:r>
              <a:rPr lang="en-US" sz="9000">
                <a:solidFill>
                  <a:srgbClr val="004AAD"/>
                </a:solidFill>
                <a:latin typeface="Lora Bold"/>
              </a:rPr>
              <a:t>VISION</a:t>
            </a:r>
          </a:p>
        </p:txBody>
      </p:sp>
      <p:sp>
        <p:nvSpPr>
          <p:cNvPr id="7" name="TextBox 7"/>
          <p:cNvSpPr txBox="1"/>
          <p:nvPr/>
        </p:nvSpPr>
        <p:spPr>
          <a:xfrm>
            <a:off x="1028700" y="3593983"/>
            <a:ext cx="8115300" cy="3186517"/>
          </a:xfrm>
          <a:prstGeom prst="rect">
            <a:avLst/>
          </a:prstGeom>
        </p:spPr>
        <p:txBody>
          <a:bodyPr lIns="0" tIns="0" rIns="0" bIns="0" rtlCol="0" anchor="t">
            <a:spAutoFit/>
          </a:bodyPr>
          <a:lstStyle/>
          <a:p>
            <a:pPr>
              <a:lnSpc>
                <a:spcPts val="6437"/>
              </a:lnSpc>
            </a:pPr>
            <a:r>
              <a:rPr lang="en-US" sz="4023">
                <a:solidFill>
                  <a:srgbClr val="2E2E2E"/>
                </a:solidFill>
                <a:latin typeface="Lora"/>
              </a:rPr>
              <a:t>We want to see at least one skill in every student's resume which they learnt through our Skill Bee club. </a:t>
            </a:r>
          </a:p>
        </p:txBody>
      </p:sp>
      <p:pic>
        <p:nvPicPr>
          <p:cNvPr id="9" name="Picture 8">
            <a:extLst>
              <a:ext uri="{FF2B5EF4-FFF2-40B4-BE49-F238E27FC236}">
                <a16:creationId xmlns:a16="http://schemas.microsoft.com/office/drawing/2014/main" id="{B8EE8997-B3C7-D619-B0D0-706A551AF8C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44000" y="2095500"/>
            <a:ext cx="8463489" cy="5638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6664043">
            <a:off x="-4052117" y="-737535"/>
            <a:ext cx="11511802" cy="11511802"/>
          </a:xfrm>
          <a:custGeom>
            <a:avLst/>
            <a:gdLst/>
            <a:ahLst/>
            <a:cxnLst/>
            <a:rect l="l" t="t" r="r" b="b"/>
            <a:pathLst>
              <a:path w="11511802" h="11511802">
                <a:moveTo>
                  <a:pt x="0" y="0"/>
                </a:moveTo>
                <a:lnTo>
                  <a:pt x="11511802" y="0"/>
                </a:lnTo>
                <a:lnTo>
                  <a:pt x="11511802" y="11511802"/>
                </a:lnTo>
                <a:lnTo>
                  <a:pt x="0" y="11511802"/>
                </a:lnTo>
                <a:lnTo>
                  <a:pt x="0" y="0"/>
                </a:lnTo>
                <a:close/>
              </a:path>
            </a:pathLst>
          </a:custGeom>
          <a:blipFill>
            <a:blip r:embed="rId2">
              <a:alphaModFix amt="40000"/>
              <a:extLst>
                <a:ext uri="{96DAC541-7B7A-43D3-8B79-37D633B846F1}">
                  <asvg:svgBlip xmlns:asvg="http://schemas.microsoft.com/office/drawing/2016/SVG/main" r:embed="rId3"/>
                </a:ext>
              </a:extLst>
            </a:blip>
            <a:stretch>
              <a:fillRect/>
            </a:stretch>
          </a:blipFill>
        </p:spPr>
      </p:sp>
      <p:sp>
        <p:nvSpPr>
          <p:cNvPr id="3" name="Freeform 3"/>
          <p:cNvSpPr/>
          <p:nvPr/>
        </p:nvSpPr>
        <p:spPr>
          <a:xfrm rot="-6284008">
            <a:off x="12761683" y="7147182"/>
            <a:ext cx="4789367" cy="7690070"/>
          </a:xfrm>
          <a:custGeom>
            <a:avLst/>
            <a:gdLst/>
            <a:ahLst/>
            <a:cxnLst/>
            <a:rect l="l" t="t" r="r" b="b"/>
            <a:pathLst>
              <a:path w="4789367" h="7690070">
                <a:moveTo>
                  <a:pt x="0" y="0"/>
                </a:moveTo>
                <a:lnTo>
                  <a:pt x="4789367" y="0"/>
                </a:lnTo>
                <a:lnTo>
                  <a:pt x="4789367" y="7690070"/>
                </a:lnTo>
                <a:lnTo>
                  <a:pt x="0" y="7690070"/>
                </a:lnTo>
                <a:lnTo>
                  <a:pt x="0" y="0"/>
                </a:lnTo>
                <a:close/>
              </a:path>
            </a:pathLst>
          </a:custGeom>
          <a:blipFill>
            <a:blip r:embed="rId4">
              <a:alphaModFix amt="50000"/>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1028700" y="1190625"/>
            <a:ext cx="6485068" cy="1209675"/>
          </a:xfrm>
          <a:prstGeom prst="rect">
            <a:avLst/>
          </a:prstGeom>
        </p:spPr>
        <p:txBody>
          <a:bodyPr lIns="0" tIns="0" rIns="0" bIns="0" rtlCol="0" anchor="t">
            <a:spAutoFit/>
          </a:bodyPr>
          <a:lstStyle/>
          <a:p>
            <a:pPr>
              <a:lnSpc>
                <a:spcPts val="9000"/>
              </a:lnSpc>
            </a:pPr>
            <a:r>
              <a:rPr lang="en-US" sz="9000">
                <a:solidFill>
                  <a:srgbClr val="004AAD"/>
                </a:solidFill>
                <a:latin typeface="Lora Bold"/>
              </a:rPr>
              <a:t>MISSION</a:t>
            </a:r>
          </a:p>
        </p:txBody>
      </p:sp>
      <p:sp>
        <p:nvSpPr>
          <p:cNvPr id="7" name="TextBox 7"/>
          <p:cNvSpPr txBox="1"/>
          <p:nvPr/>
        </p:nvSpPr>
        <p:spPr>
          <a:xfrm>
            <a:off x="7011590" y="1774158"/>
            <a:ext cx="10247710" cy="2070100"/>
          </a:xfrm>
          <a:prstGeom prst="rect">
            <a:avLst/>
          </a:prstGeom>
        </p:spPr>
        <p:txBody>
          <a:bodyPr lIns="0" tIns="0" rIns="0" bIns="0" rtlCol="0" anchor="t">
            <a:spAutoFit/>
          </a:bodyPr>
          <a:lstStyle/>
          <a:p>
            <a:pPr>
              <a:lnSpc>
                <a:spcPts val="5600"/>
              </a:lnSpc>
            </a:pPr>
            <a:r>
              <a:rPr lang="en-US" sz="3500">
                <a:solidFill>
                  <a:srgbClr val="2E2E2E"/>
                </a:solidFill>
                <a:latin typeface="Lora"/>
              </a:rPr>
              <a:t>To ensure the improvement of the capability of students in learning, understanding, teaching and also expressing their skills confidently. </a:t>
            </a:r>
          </a:p>
        </p:txBody>
      </p:sp>
      <p:sp>
        <p:nvSpPr>
          <p:cNvPr id="8" name="Freeform 8"/>
          <p:cNvSpPr/>
          <p:nvPr/>
        </p:nvSpPr>
        <p:spPr>
          <a:xfrm rot="1505868">
            <a:off x="9245019" y="-4340343"/>
            <a:ext cx="12580534" cy="8680686"/>
          </a:xfrm>
          <a:custGeom>
            <a:avLst/>
            <a:gdLst/>
            <a:ahLst/>
            <a:cxnLst/>
            <a:rect l="l" t="t" r="r" b="b"/>
            <a:pathLst>
              <a:path w="12580534" h="8680686">
                <a:moveTo>
                  <a:pt x="0" y="0"/>
                </a:moveTo>
                <a:lnTo>
                  <a:pt x="12580534" y="0"/>
                </a:lnTo>
                <a:lnTo>
                  <a:pt x="12580534" y="8680686"/>
                </a:lnTo>
                <a:lnTo>
                  <a:pt x="0" y="8680686"/>
                </a:lnTo>
                <a:lnTo>
                  <a:pt x="0" y="0"/>
                </a:lnTo>
                <a:close/>
              </a:path>
            </a:pathLst>
          </a:custGeom>
          <a:blipFill>
            <a:blip r:embed="rId6">
              <a:alphaModFix amt="50000"/>
              <a:extLst>
                <a:ext uri="{96DAC541-7B7A-43D3-8B79-37D633B846F1}">
                  <asvg:svgBlip xmlns:asvg="http://schemas.microsoft.com/office/drawing/2016/SVG/main" r:embed="rId7"/>
                </a:ext>
              </a:extLst>
            </a:blip>
            <a:stretch>
              <a:fillRect/>
            </a:stretch>
          </a:blipFill>
        </p:spPr>
      </p:sp>
      <p:pic>
        <p:nvPicPr>
          <p:cNvPr id="12" name="Picture 11">
            <a:extLst>
              <a:ext uri="{FF2B5EF4-FFF2-40B4-BE49-F238E27FC236}">
                <a16:creationId xmlns:a16="http://schemas.microsoft.com/office/drawing/2014/main" id="{AC5C086B-A8CA-7505-DA8E-76E11159F039}"/>
              </a:ext>
            </a:extLst>
          </p:cNvPr>
          <p:cNvPicPr>
            <a:picLocks noChangeAspect="1"/>
          </p:cNvPicPr>
          <p:nvPr/>
        </p:nvPicPr>
        <p:blipFill>
          <a:blip r:embed="rId8">
            <a:extLst>
              <a:ext uri="{28A0092B-C50C-407E-A947-70E740481C1C}">
                <a14:useLocalDpi xmlns:a14="http://schemas.microsoft.com/office/drawing/2010/main" val="0"/>
              </a:ext>
            </a:extLst>
          </a:blip>
          <a:srcRect l="5911" t="16202" b="-341"/>
          <a:stretch/>
        </p:blipFill>
        <p:spPr>
          <a:xfrm>
            <a:off x="1706703" y="4152900"/>
            <a:ext cx="14554200" cy="554357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408728">
            <a:off x="3575132" y="-3210605"/>
            <a:ext cx="15887340" cy="15887340"/>
          </a:xfrm>
          <a:custGeom>
            <a:avLst/>
            <a:gdLst/>
            <a:ahLst/>
            <a:cxnLst/>
            <a:rect l="l" t="t" r="r" b="b"/>
            <a:pathLst>
              <a:path w="15887340" h="15887340">
                <a:moveTo>
                  <a:pt x="0" y="0"/>
                </a:moveTo>
                <a:lnTo>
                  <a:pt x="15887341" y="0"/>
                </a:lnTo>
                <a:lnTo>
                  <a:pt x="15887341" y="15887340"/>
                </a:lnTo>
                <a:lnTo>
                  <a:pt x="0" y="15887340"/>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txBody>
          <a:bodyPr/>
          <a:lstStyle/>
          <a:p>
            <a:endParaRPr lang="en-IN" sz="1800" dirty="0">
              <a:latin typeface="Lora Italics" panose="020B0604020202020204" charset="0"/>
            </a:endParaRPr>
          </a:p>
        </p:txBody>
      </p:sp>
      <p:grpSp>
        <p:nvGrpSpPr>
          <p:cNvPr id="3" name="Group 3"/>
          <p:cNvGrpSpPr/>
          <p:nvPr/>
        </p:nvGrpSpPr>
        <p:grpSpPr>
          <a:xfrm>
            <a:off x="7034278" y="172378"/>
            <a:ext cx="2994106" cy="4677710"/>
            <a:chOff x="0" y="0"/>
            <a:chExt cx="3992141" cy="6236946"/>
          </a:xfrm>
        </p:grpSpPr>
        <p:grpSp>
          <p:nvGrpSpPr>
            <p:cNvPr id="4" name="Group 4"/>
            <p:cNvGrpSpPr>
              <a:grpSpLocks noChangeAspect="1"/>
            </p:cNvGrpSpPr>
            <p:nvPr/>
          </p:nvGrpSpPr>
          <p:grpSpPr>
            <a:xfrm>
              <a:off x="0" y="0"/>
              <a:ext cx="3992141" cy="5279998"/>
              <a:chOff x="0" y="0"/>
              <a:chExt cx="1844040" cy="2438924"/>
            </a:xfrm>
          </p:grpSpPr>
          <p:sp>
            <p:nvSpPr>
              <p:cNvPr id="5" name="Freeform 5"/>
              <p:cNvSpPr/>
              <p:nvPr/>
            </p:nvSpPr>
            <p:spPr>
              <a:xfrm>
                <a:off x="115570" y="39370"/>
                <a:ext cx="1681480" cy="2326640"/>
              </a:xfrm>
              <a:custGeom>
                <a:avLst/>
                <a:gdLst/>
                <a:ahLst/>
                <a:cxnLst/>
                <a:rect l="l" t="t" r="r" b="b"/>
                <a:pathLst>
                  <a:path w="1681480" h="2326640">
                    <a:moveTo>
                      <a:pt x="1680210" y="2326640"/>
                    </a:moveTo>
                    <a:lnTo>
                      <a:pt x="0" y="2326640"/>
                    </a:lnTo>
                    <a:lnTo>
                      <a:pt x="0" y="0"/>
                    </a:lnTo>
                    <a:lnTo>
                      <a:pt x="1681480" y="0"/>
                    </a:lnTo>
                    <a:lnTo>
                      <a:pt x="1681480" y="2326640"/>
                    </a:lnTo>
                    <a:close/>
                  </a:path>
                </a:pathLst>
              </a:custGeom>
              <a:blipFill>
                <a:blip r:embed="rId4"/>
                <a:stretch>
                  <a:fillRect t="-4224" b="-4224"/>
                </a:stretch>
              </a:blipFill>
            </p:spPr>
          </p:sp>
          <p:sp>
            <p:nvSpPr>
              <p:cNvPr id="6" name="Freeform 6"/>
              <p:cNvSpPr/>
              <p:nvPr/>
            </p:nvSpPr>
            <p:spPr>
              <a:xfrm>
                <a:off x="0" y="0"/>
                <a:ext cx="1844040" cy="2438924"/>
              </a:xfrm>
              <a:custGeom>
                <a:avLst/>
                <a:gdLst/>
                <a:ahLst/>
                <a:cxnLst/>
                <a:rect l="l" t="t" r="r" b="b"/>
                <a:pathLst>
                  <a:path w="1844040" h="2444750">
                    <a:moveTo>
                      <a:pt x="1844040" y="2444750"/>
                    </a:moveTo>
                    <a:lnTo>
                      <a:pt x="0" y="2444750"/>
                    </a:lnTo>
                    <a:lnTo>
                      <a:pt x="0" y="0"/>
                    </a:lnTo>
                    <a:lnTo>
                      <a:pt x="1844040" y="0"/>
                    </a:lnTo>
                    <a:lnTo>
                      <a:pt x="1844040" y="2444750"/>
                    </a:lnTo>
                    <a:close/>
                  </a:path>
                </a:pathLst>
              </a:custGeom>
              <a:blipFill>
                <a:blip r:embed="rId5"/>
                <a:stretch>
                  <a:fillRect l="-47" r="-47"/>
                </a:stretch>
              </a:blipFill>
            </p:spPr>
            <p:txBody>
              <a:bodyPr/>
              <a:lstStyle/>
              <a:p>
                <a:endParaRPr lang="en-IN" dirty="0"/>
              </a:p>
            </p:txBody>
          </p:sp>
        </p:grpSp>
        <p:sp>
          <p:nvSpPr>
            <p:cNvPr id="7" name="TextBox 7"/>
            <p:cNvSpPr txBox="1"/>
            <p:nvPr/>
          </p:nvSpPr>
          <p:spPr>
            <a:xfrm>
              <a:off x="0" y="5400583"/>
              <a:ext cx="3992141" cy="446875"/>
            </a:xfrm>
            <a:prstGeom prst="rect">
              <a:avLst/>
            </a:prstGeom>
          </p:spPr>
          <p:txBody>
            <a:bodyPr lIns="0" tIns="0" rIns="0" bIns="0" rtlCol="0" anchor="t">
              <a:spAutoFit/>
            </a:bodyPr>
            <a:lstStyle/>
            <a:p>
              <a:pPr algn="ctr">
                <a:lnSpc>
                  <a:spcPts val="2800"/>
                </a:lnSpc>
              </a:pPr>
              <a:r>
                <a:rPr lang="en-US" sz="2000" dirty="0">
                  <a:solidFill>
                    <a:srgbClr val="2E2E2E"/>
                  </a:solidFill>
                  <a:latin typeface="Lora Bold"/>
                </a:rPr>
                <a:t>MR K. DURGA CHARAN</a:t>
              </a:r>
            </a:p>
          </p:txBody>
        </p:sp>
        <p:sp>
          <p:nvSpPr>
            <p:cNvPr id="8" name="TextBox 8"/>
            <p:cNvSpPr txBox="1"/>
            <p:nvPr/>
          </p:nvSpPr>
          <p:spPr>
            <a:xfrm>
              <a:off x="0" y="5877445"/>
              <a:ext cx="3992141" cy="359501"/>
            </a:xfrm>
            <a:prstGeom prst="rect">
              <a:avLst/>
            </a:prstGeom>
          </p:spPr>
          <p:txBody>
            <a:bodyPr lIns="0" tIns="0" rIns="0" bIns="0" rtlCol="0" anchor="t">
              <a:spAutoFit/>
            </a:bodyPr>
            <a:lstStyle/>
            <a:p>
              <a:pPr algn="ctr">
                <a:lnSpc>
                  <a:spcPts val="2240"/>
                </a:lnSpc>
              </a:pPr>
              <a:r>
                <a:rPr lang="en-US" sz="1600" dirty="0">
                  <a:solidFill>
                    <a:srgbClr val="2E2E2E"/>
                  </a:solidFill>
                  <a:latin typeface="Lora Italics"/>
                </a:rPr>
                <a:t>FACULTY COORDINATOR</a:t>
              </a:r>
            </a:p>
          </p:txBody>
        </p:sp>
      </p:grpSp>
      <p:grpSp>
        <p:nvGrpSpPr>
          <p:cNvPr id="9" name="Group 9"/>
          <p:cNvGrpSpPr/>
          <p:nvPr/>
        </p:nvGrpSpPr>
        <p:grpSpPr>
          <a:xfrm>
            <a:off x="11989095" y="192436"/>
            <a:ext cx="3437787" cy="4136505"/>
            <a:chOff x="0" y="1983346"/>
            <a:chExt cx="4221432" cy="5292612"/>
          </a:xfrm>
        </p:grpSpPr>
        <p:sp>
          <p:nvSpPr>
            <p:cNvPr id="12" name="Freeform 12"/>
            <p:cNvSpPr/>
            <p:nvPr/>
          </p:nvSpPr>
          <p:spPr>
            <a:xfrm>
              <a:off x="229291" y="1983346"/>
              <a:ext cx="3992141" cy="5292612"/>
            </a:xfrm>
            <a:custGeom>
              <a:avLst/>
              <a:gdLst/>
              <a:ahLst/>
              <a:cxnLst/>
              <a:rect l="l" t="t" r="r" b="b"/>
              <a:pathLst>
                <a:path w="1844040" h="2444750">
                  <a:moveTo>
                    <a:pt x="1844040" y="2444750"/>
                  </a:moveTo>
                  <a:lnTo>
                    <a:pt x="0" y="2444750"/>
                  </a:lnTo>
                  <a:lnTo>
                    <a:pt x="0" y="0"/>
                  </a:lnTo>
                  <a:lnTo>
                    <a:pt x="1844040" y="0"/>
                  </a:lnTo>
                  <a:lnTo>
                    <a:pt x="1844040" y="2444750"/>
                  </a:lnTo>
                  <a:close/>
                </a:path>
              </a:pathLst>
            </a:custGeom>
            <a:blipFill>
              <a:blip r:embed="rId5"/>
              <a:stretch>
                <a:fillRect l="-47" r="-47"/>
              </a:stretch>
            </a:blipFill>
          </p:spPr>
          <p:txBody>
            <a:bodyPr/>
            <a:lstStyle/>
            <a:p>
              <a:endParaRPr lang="en-IN" dirty="0"/>
            </a:p>
          </p:txBody>
        </p:sp>
        <p:sp>
          <p:nvSpPr>
            <p:cNvPr id="13" name="TextBox 13"/>
            <p:cNvSpPr txBox="1"/>
            <p:nvPr/>
          </p:nvSpPr>
          <p:spPr>
            <a:xfrm>
              <a:off x="0" y="5400584"/>
              <a:ext cx="3992141" cy="404080"/>
            </a:xfrm>
            <a:prstGeom prst="rect">
              <a:avLst/>
            </a:prstGeom>
          </p:spPr>
          <p:txBody>
            <a:bodyPr lIns="0" tIns="0" rIns="0" bIns="0" rtlCol="0" anchor="t">
              <a:spAutoFit/>
            </a:bodyPr>
            <a:lstStyle/>
            <a:p>
              <a:pPr algn="ctr">
                <a:lnSpc>
                  <a:spcPts val="2800"/>
                </a:lnSpc>
              </a:pPr>
              <a:endParaRPr lang="en-US" sz="2000" dirty="0">
                <a:solidFill>
                  <a:srgbClr val="2E2E2E"/>
                </a:solidFill>
                <a:latin typeface="Lora Bold"/>
              </a:endParaRPr>
            </a:p>
          </p:txBody>
        </p:sp>
        <p:sp>
          <p:nvSpPr>
            <p:cNvPr id="14" name="TextBox 14"/>
            <p:cNvSpPr txBox="1"/>
            <p:nvPr/>
          </p:nvSpPr>
          <p:spPr>
            <a:xfrm>
              <a:off x="0" y="5877445"/>
              <a:ext cx="3992141" cy="318656"/>
            </a:xfrm>
            <a:prstGeom prst="rect">
              <a:avLst/>
            </a:prstGeom>
          </p:spPr>
          <p:txBody>
            <a:bodyPr lIns="0" tIns="0" rIns="0" bIns="0" rtlCol="0" anchor="t">
              <a:spAutoFit/>
            </a:bodyPr>
            <a:lstStyle/>
            <a:p>
              <a:pPr algn="ctr">
                <a:lnSpc>
                  <a:spcPts val="2240"/>
                </a:lnSpc>
              </a:pPr>
              <a:endParaRPr lang="en-US" sz="1600" dirty="0">
                <a:solidFill>
                  <a:srgbClr val="2E2E2E"/>
                </a:solidFill>
                <a:latin typeface="Lora"/>
              </a:endParaRPr>
            </a:p>
          </p:txBody>
        </p:sp>
      </p:grpSp>
      <p:sp>
        <p:nvSpPr>
          <p:cNvPr id="15" name="Freeform 15"/>
          <p:cNvSpPr/>
          <p:nvPr/>
        </p:nvSpPr>
        <p:spPr>
          <a:xfrm rot="148401" flipH="1">
            <a:off x="15675926" y="177750"/>
            <a:ext cx="6729406" cy="5469172"/>
          </a:xfrm>
          <a:custGeom>
            <a:avLst/>
            <a:gdLst/>
            <a:ahLst/>
            <a:cxnLst/>
            <a:rect l="l" t="t" r="r" b="b"/>
            <a:pathLst>
              <a:path w="6729406" h="5469172">
                <a:moveTo>
                  <a:pt x="6729406" y="0"/>
                </a:moveTo>
                <a:lnTo>
                  <a:pt x="0" y="0"/>
                </a:lnTo>
                <a:lnTo>
                  <a:pt x="0" y="5469172"/>
                </a:lnTo>
                <a:lnTo>
                  <a:pt x="6729406" y="5469172"/>
                </a:lnTo>
                <a:lnTo>
                  <a:pt x="6729406"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dirty="0"/>
          </a:p>
        </p:txBody>
      </p:sp>
      <p:sp>
        <p:nvSpPr>
          <p:cNvPr id="22" name="TextBox 22"/>
          <p:cNvSpPr txBox="1"/>
          <p:nvPr/>
        </p:nvSpPr>
        <p:spPr>
          <a:xfrm>
            <a:off x="1028700" y="4929915"/>
            <a:ext cx="6167099" cy="3558667"/>
          </a:xfrm>
          <a:prstGeom prst="rect">
            <a:avLst/>
          </a:prstGeom>
        </p:spPr>
        <p:txBody>
          <a:bodyPr lIns="0" tIns="0" rIns="0" bIns="0" rtlCol="0" anchor="t">
            <a:spAutoFit/>
          </a:bodyPr>
          <a:lstStyle/>
          <a:p>
            <a:pPr marL="378166" lvl="1" indent="-189083">
              <a:lnSpc>
                <a:spcPts val="2802"/>
              </a:lnSpc>
              <a:buFont typeface="Arial"/>
              <a:buChar char="•"/>
            </a:pPr>
            <a:r>
              <a:rPr lang="en-US" sz="1751" dirty="0">
                <a:solidFill>
                  <a:srgbClr val="2E2E2E"/>
                </a:solidFill>
                <a:latin typeface="Lora"/>
              </a:rPr>
              <a:t>Mr. K Durga Charan, Assistant Professor at the Department of Data Science, serves as the Faculty Coordinator for the club.</a:t>
            </a:r>
          </a:p>
          <a:p>
            <a:pPr marL="378166" lvl="1" indent="-189083">
              <a:lnSpc>
                <a:spcPts val="2802"/>
              </a:lnSpc>
              <a:buFont typeface="Arial"/>
              <a:buChar char="•"/>
            </a:pPr>
            <a:r>
              <a:rPr lang="en-US" sz="1751" dirty="0">
                <a:solidFill>
                  <a:srgbClr val="2E2E2E"/>
                </a:solidFill>
                <a:latin typeface="Lora"/>
              </a:rPr>
              <a:t>Mr. M Gnana Srikar Yadav, a second-year student specializing in Data Science, has taken on the role of Student Coordinator.</a:t>
            </a:r>
          </a:p>
          <a:p>
            <a:pPr marL="378166" lvl="1" indent="-189083">
              <a:lnSpc>
                <a:spcPts val="2802"/>
              </a:lnSpc>
              <a:buFont typeface="Arial"/>
              <a:buChar char="•"/>
            </a:pPr>
            <a:r>
              <a:rPr lang="en-US" sz="1751" dirty="0">
                <a:solidFill>
                  <a:srgbClr val="2E2E2E"/>
                </a:solidFill>
                <a:latin typeface="Lora"/>
              </a:rPr>
              <a:t>Mr. M Abdul Kalam holds the position of Secretary for the club.</a:t>
            </a:r>
          </a:p>
          <a:p>
            <a:pPr marL="378166" lvl="1" indent="-189083">
              <a:lnSpc>
                <a:spcPts val="2802"/>
              </a:lnSpc>
              <a:buFont typeface="Arial"/>
              <a:buChar char="•"/>
            </a:pPr>
            <a:r>
              <a:rPr lang="en-US" sz="1751" dirty="0">
                <a:solidFill>
                  <a:srgbClr val="2E2E2E"/>
                </a:solidFill>
                <a:latin typeface="Lora"/>
              </a:rPr>
              <a:t>Mr. R Balu  holds the position of Treasurer for the club.</a:t>
            </a:r>
          </a:p>
          <a:p>
            <a:pPr marL="378166" lvl="1" indent="-189083">
              <a:lnSpc>
                <a:spcPts val="2802"/>
              </a:lnSpc>
              <a:buFont typeface="Arial"/>
              <a:buChar char="•"/>
            </a:pPr>
            <a:endParaRPr lang="en-US" sz="1751" dirty="0">
              <a:solidFill>
                <a:srgbClr val="2E2E2E"/>
              </a:solidFill>
              <a:latin typeface="Lora"/>
            </a:endParaRPr>
          </a:p>
        </p:txBody>
      </p:sp>
      <p:sp>
        <p:nvSpPr>
          <p:cNvPr id="23" name="Freeform 23"/>
          <p:cNvSpPr/>
          <p:nvPr/>
        </p:nvSpPr>
        <p:spPr>
          <a:xfrm rot="1082301">
            <a:off x="-5072607" y="6650746"/>
            <a:ext cx="11928886" cy="8231043"/>
          </a:xfrm>
          <a:custGeom>
            <a:avLst/>
            <a:gdLst/>
            <a:ahLst/>
            <a:cxnLst/>
            <a:rect l="l" t="t" r="r" b="b"/>
            <a:pathLst>
              <a:path w="11928886" h="8231043">
                <a:moveTo>
                  <a:pt x="0" y="0"/>
                </a:moveTo>
                <a:lnTo>
                  <a:pt x="11928886" y="0"/>
                </a:lnTo>
                <a:lnTo>
                  <a:pt x="11928886" y="8231043"/>
                </a:lnTo>
                <a:lnTo>
                  <a:pt x="0" y="8231043"/>
                </a:lnTo>
                <a:lnTo>
                  <a:pt x="0" y="0"/>
                </a:lnTo>
                <a:close/>
              </a:path>
            </a:pathLst>
          </a:custGeom>
          <a:blipFill>
            <a:blip r:embed="rId8">
              <a:alphaModFix amt="50000"/>
              <a:extLst>
                <a:ext uri="{96DAC541-7B7A-43D3-8B79-37D633B846F1}">
                  <asvg:svgBlip xmlns:asvg="http://schemas.microsoft.com/office/drawing/2016/SVG/main" r:embed="rId9"/>
                </a:ext>
              </a:extLst>
            </a:blip>
            <a:stretch>
              <a:fillRect/>
            </a:stretch>
          </a:blipFill>
        </p:spPr>
      </p:sp>
      <p:sp>
        <p:nvSpPr>
          <p:cNvPr id="24" name="TextBox 24"/>
          <p:cNvSpPr txBox="1"/>
          <p:nvPr/>
        </p:nvSpPr>
        <p:spPr>
          <a:xfrm>
            <a:off x="1028700" y="2107341"/>
            <a:ext cx="4996390" cy="2352675"/>
          </a:xfrm>
          <a:prstGeom prst="rect">
            <a:avLst/>
          </a:prstGeom>
        </p:spPr>
        <p:txBody>
          <a:bodyPr lIns="0" tIns="0" rIns="0" bIns="0" rtlCol="0" anchor="t">
            <a:spAutoFit/>
          </a:bodyPr>
          <a:lstStyle/>
          <a:p>
            <a:pPr>
              <a:lnSpc>
                <a:spcPts val="9000"/>
              </a:lnSpc>
            </a:pPr>
            <a:r>
              <a:rPr lang="en-US" sz="9000">
                <a:solidFill>
                  <a:srgbClr val="004AAD"/>
                </a:solidFill>
                <a:latin typeface="Lora Bold"/>
              </a:rPr>
              <a:t>OUR TEAM</a:t>
            </a:r>
          </a:p>
        </p:txBody>
      </p:sp>
      <p:pic>
        <p:nvPicPr>
          <p:cNvPr id="26" name="Picture 25">
            <a:extLst>
              <a:ext uri="{FF2B5EF4-FFF2-40B4-BE49-F238E27FC236}">
                <a16:creationId xmlns:a16="http://schemas.microsoft.com/office/drawing/2014/main" id="{FF1A7851-63F6-C540-61ED-58DB1B831681}"/>
              </a:ext>
            </a:extLst>
          </p:cNvPr>
          <p:cNvPicPr>
            <a:picLocks noChangeAspect="1"/>
          </p:cNvPicPr>
          <p:nvPr/>
        </p:nvPicPr>
        <p:blipFill>
          <a:blip r:embed="rId10" cstate="print">
            <a:extLst>
              <a:ext uri="{28A0092B-C50C-407E-A947-70E740481C1C}">
                <a14:useLocalDpi xmlns:a14="http://schemas.microsoft.com/office/drawing/2010/main" val="0"/>
              </a:ext>
            </a:extLst>
          </a:blip>
          <a:srcRect l="12924" t="12569" r="7795"/>
          <a:stretch/>
        </p:blipFill>
        <p:spPr>
          <a:xfrm>
            <a:off x="12399395" y="331634"/>
            <a:ext cx="2868740" cy="3799554"/>
          </a:xfrm>
          <a:prstGeom prst="rect">
            <a:avLst/>
          </a:prstGeom>
        </p:spPr>
      </p:pic>
      <p:grpSp>
        <p:nvGrpSpPr>
          <p:cNvPr id="27" name="Group 9">
            <a:extLst>
              <a:ext uri="{FF2B5EF4-FFF2-40B4-BE49-F238E27FC236}">
                <a16:creationId xmlns:a16="http://schemas.microsoft.com/office/drawing/2014/main" id="{9946E77D-F050-5125-422B-FDB508C70063}"/>
              </a:ext>
            </a:extLst>
          </p:cNvPr>
          <p:cNvGrpSpPr/>
          <p:nvPr/>
        </p:nvGrpSpPr>
        <p:grpSpPr>
          <a:xfrm>
            <a:off x="767661" y="5152294"/>
            <a:ext cx="16752678" cy="4204644"/>
            <a:chOff x="0" y="4611892"/>
            <a:chExt cx="20470558" cy="5292612"/>
          </a:xfrm>
        </p:grpSpPr>
        <p:sp>
          <p:nvSpPr>
            <p:cNvPr id="28" name="Freeform 12">
              <a:extLst>
                <a:ext uri="{FF2B5EF4-FFF2-40B4-BE49-F238E27FC236}">
                  <a16:creationId xmlns:a16="http://schemas.microsoft.com/office/drawing/2014/main" id="{74F7EA2E-CC2D-3D50-58BF-F4826EBACBA1}"/>
                </a:ext>
              </a:extLst>
            </p:cNvPr>
            <p:cNvSpPr/>
            <p:nvPr/>
          </p:nvSpPr>
          <p:spPr>
            <a:xfrm>
              <a:off x="16478417" y="4611892"/>
              <a:ext cx="3992141" cy="5292612"/>
            </a:xfrm>
            <a:custGeom>
              <a:avLst/>
              <a:gdLst/>
              <a:ahLst/>
              <a:cxnLst/>
              <a:rect l="l" t="t" r="r" b="b"/>
              <a:pathLst>
                <a:path w="1844040" h="2444750">
                  <a:moveTo>
                    <a:pt x="1844040" y="2444750"/>
                  </a:moveTo>
                  <a:lnTo>
                    <a:pt x="0" y="2444750"/>
                  </a:lnTo>
                  <a:lnTo>
                    <a:pt x="0" y="0"/>
                  </a:lnTo>
                  <a:lnTo>
                    <a:pt x="1844040" y="0"/>
                  </a:lnTo>
                  <a:lnTo>
                    <a:pt x="1844040" y="2444750"/>
                  </a:lnTo>
                  <a:close/>
                </a:path>
              </a:pathLst>
            </a:custGeom>
            <a:blipFill>
              <a:blip r:embed="rId5"/>
              <a:stretch>
                <a:fillRect l="-47" r="-47"/>
              </a:stretch>
            </a:blipFill>
          </p:spPr>
          <p:txBody>
            <a:bodyPr/>
            <a:lstStyle/>
            <a:p>
              <a:endParaRPr lang="en-IN" dirty="0"/>
            </a:p>
          </p:txBody>
        </p:sp>
        <p:sp>
          <p:nvSpPr>
            <p:cNvPr id="29" name="TextBox 13">
              <a:extLst>
                <a:ext uri="{FF2B5EF4-FFF2-40B4-BE49-F238E27FC236}">
                  <a16:creationId xmlns:a16="http://schemas.microsoft.com/office/drawing/2014/main" id="{A6F6A41C-05EF-BBF3-56C5-A85664A32D84}"/>
                </a:ext>
              </a:extLst>
            </p:cNvPr>
            <p:cNvSpPr txBox="1"/>
            <p:nvPr/>
          </p:nvSpPr>
          <p:spPr>
            <a:xfrm>
              <a:off x="0" y="5400584"/>
              <a:ext cx="3992141" cy="404080"/>
            </a:xfrm>
            <a:prstGeom prst="rect">
              <a:avLst/>
            </a:prstGeom>
          </p:spPr>
          <p:txBody>
            <a:bodyPr lIns="0" tIns="0" rIns="0" bIns="0" rtlCol="0" anchor="t">
              <a:spAutoFit/>
            </a:bodyPr>
            <a:lstStyle/>
            <a:p>
              <a:pPr algn="ctr">
                <a:lnSpc>
                  <a:spcPts val="2800"/>
                </a:lnSpc>
              </a:pPr>
              <a:endParaRPr lang="en-US" sz="2000" dirty="0">
                <a:solidFill>
                  <a:srgbClr val="2E2E2E"/>
                </a:solidFill>
                <a:latin typeface="Lora Bold"/>
              </a:endParaRPr>
            </a:p>
          </p:txBody>
        </p:sp>
        <p:sp>
          <p:nvSpPr>
            <p:cNvPr id="30" name="TextBox 14">
              <a:extLst>
                <a:ext uri="{FF2B5EF4-FFF2-40B4-BE49-F238E27FC236}">
                  <a16:creationId xmlns:a16="http://schemas.microsoft.com/office/drawing/2014/main" id="{1891560B-AF02-C54E-B5DB-E5EB8EBDBEA2}"/>
                </a:ext>
              </a:extLst>
            </p:cNvPr>
            <p:cNvSpPr txBox="1"/>
            <p:nvPr/>
          </p:nvSpPr>
          <p:spPr>
            <a:xfrm>
              <a:off x="0" y="5877445"/>
              <a:ext cx="3992141" cy="318656"/>
            </a:xfrm>
            <a:prstGeom prst="rect">
              <a:avLst/>
            </a:prstGeom>
          </p:spPr>
          <p:txBody>
            <a:bodyPr lIns="0" tIns="0" rIns="0" bIns="0" rtlCol="0" anchor="t">
              <a:spAutoFit/>
            </a:bodyPr>
            <a:lstStyle/>
            <a:p>
              <a:pPr algn="ctr">
                <a:lnSpc>
                  <a:spcPts val="2240"/>
                </a:lnSpc>
              </a:pPr>
              <a:endParaRPr lang="en-US" sz="1600" dirty="0">
                <a:solidFill>
                  <a:srgbClr val="2E2E2E"/>
                </a:solidFill>
                <a:latin typeface="Lora"/>
              </a:endParaRPr>
            </a:p>
          </p:txBody>
        </p:sp>
      </p:grpSp>
      <p:grpSp>
        <p:nvGrpSpPr>
          <p:cNvPr id="31" name="Group 9">
            <a:extLst>
              <a:ext uri="{FF2B5EF4-FFF2-40B4-BE49-F238E27FC236}">
                <a16:creationId xmlns:a16="http://schemas.microsoft.com/office/drawing/2014/main" id="{C94D2C6D-78AD-34C8-F13D-B5CCBD1EAEC1}"/>
              </a:ext>
            </a:extLst>
          </p:cNvPr>
          <p:cNvGrpSpPr/>
          <p:nvPr/>
        </p:nvGrpSpPr>
        <p:grpSpPr>
          <a:xfrm>
            <a:off x="2549753" y="3924300"/>
            <a:ext cx="8969050" cy="5540777"/>
            <a:chOff x="0" y="5400584"/>
            <a:chExt cx="10959529" cy="6636686"/>
          </a:xfrm>
        </p:grpSpPr>
        <p:sp>
          <p:nvSpPr>
            <p:cNvPr id="32" name="Freeform 12">
              <a:extLst>
                <a:ext uri="{FF2B5EF4-FFF2-40B4-BE49-F238E27FC236}">
                  <a16:creationId xmlns:a16="http://schemas.microsoft.com/office/drawing/2014/main" id="{64A4CE69-E372-0AA6-318F-0F8CCEB945CE}"/>
                </a:ext>
              </a:extLst>
            </p:cNvPr>
            <p:cNvSpPr/>
            <p:nvPr/>
          </p:nvSpPr>
          <p:spPr>
            <a:xfrm>
              <a:off x="6967388" y="6744658"/>
              <a:ext cx="3992141" cy="5292612"/>
            </a:xfrm>
            <a:custGeom>
              <a:avLst/>
              <a:gdLst/>
              <a:ahLst/>
              <a:cxnLst/>
              <a:rect l="l" t="t" r="r" b="b"/>
              <a:pathLst>
                <a:path w="1844040" h="2444750">
                  <a:moveTo>
                    <a:pt x="1844040" y="2444750"/>
                  </a:moveTo>
                  <a:lnTo>
                    <a:pt x="0" y="2444750"/>
                  </a:lnTo>
                  <a:lnTo>
                    <a:pt x="0" y="0"/>
                  </a:lnTo>
                  <a:lnTo>
                    <a:pt x="1844040" y="0"/>
                  </a:lnTo>
                  <a:lnTo>
                    <a:pt x="1844040" y="2444750"/>
                  </a:lnTo>
                  <a:close/>
                </a:path>
              </a:pathLst>
            </a:custGeom>
            <a:blipFill>
              <a:blip r:embed="rId5"/>
              <a:stretch>
                <a:fillRect l="-47" r="-47"/>
              </a:stretch>
            </a:blipFill>
          </p:spPr>
          <p:txBody>
            <a:bodyPr/>
            <a:lstStyle/>
            <a:p>
              <a:endParaRPr lang="en-IN" dirty="0"/>
            </a:p>
          </p:txBody>
        </p:sp>
        <p:sp>
          <p:nvSpPr>
            <p:cNvPr id="33" name="TextBox 13">
              <a:extLst>
                <a:ext uri="{FF2B5EF4-FFF2-40B4-BE49-F238E27FC236}">
                  <a16:creationId xmlns:a16="http://schemas.microsoft.com/office/drawing/2014/main" id="{05FD15E9-2422-5590-4355-C459E5319180}"/>
                </a:ext>
              </a:extLst>
            </p:cNvPr>
            <p:cNvSpPr txBox="1"/>
            <p:nvPr/>
          </p:nvSpPr>
          <p:spPr>
            <a:xfrm>
              <a:off x="0" y="5400584"/>
              <a:ext cx="3992141" cy="404080"/>
            </a:xfrm>
            <a:prstGeom prst="rect">
              <a:avLst/>
            </a:prstGeom>
          </p:spPr>
          <p:txBody>
            <a:bodyPr lIns="0" tIns="0" rIns="0" bIns="0" rtlCol="0" anchor="t">
              <a:spAutoFit/>
            </a:bodyPr>
            <a:lstStyle/>
            <a:p>
              <a:pPr algn="ctr">
                <a:lnSpc>
                  <a:spcPts val="2800"/>
                </a:lnSpc>
              </a:pPr>
              <a:endParaRPr lang="en-US" sz="2000" dirty="0">
                <a:solidFill>
                  <a:srgbClr val="2E2E2E"/>
                </a:solidFill>
                <a:latin typeface="Lora Bold"/>
              </a:endParaRPr>
            </a:p>
          </p:txBody>
        </p:sp>
        <p:sp>
          <p:nvSpPr>
            <p:cNvPr id="34" name="TextBox 14">
              <a:extLst>
                <a:ext uri="{FF2B5EF4-FFF2-40B4-BE49-F238E27FC236}">
                  <a16:creationId xmlns:a16="http://schemas.microsoft.com/office/drawing/2014/main" id="{FE43D489-DC25-B285-1261-3AA6D8375D87}"/>
                </a:ext>
              </a:extLst>
            </p:cNvPr>
            <p:cNvSpPr txBox="1"/>
            <p:nvPr/>
          </p:nvSpPr>
          <p:spPr>
            <a:xfrm>
              <a:off x="0" y="5877445"/>
              <a:ext cx="3992141" cy="318656"/>
            </a:xfrm>
            <a:prstGeom prst="rect">
              <a:avLst/>
            </a:prstGeom>
          </p:spPr>
          <p:txBody>
            <a:bodyPr lIns="0" tIns="0" rIns="0" bIns="0" rtlCol="0" anchor="t">
              <a:spAutoFit/>
            </a:bodyPr>
            <a:lstStyle/>
            <a:p>
              <a:pPr algn="ctr">
                <a:lnSpc>
                  <a:spcPts val="2240"/>
                </a:lnSpc>
              </a:pPr>
              <a:endParaRPr lang="en-US" sz="1600" dirty="0">
                <a:solidFill>
                  <a:srgbClr val="2E2E2E"/>
                </a:solidFill>
                <a:latin typeface="Lora"/>
              </a:endParaRPr>
            </a:p>
          </p:txBody>
        </p:sp>
      </p:grpSp>
      <p:sp>
        <p:nvSpPr>
          <p:cNvPr id="35" name="TextBox 34">
            <a:extLst>
              <a:ext uri="{FF2B5EF4-FFF2-40B4-BE49-F238E27FC236}">
                <a16:creationId xmlns:a16="http://schemas.microsoft.com/office/drawing/2014/main" id="{E6015E69-4996-04A1-E85A-2668BDC581D4}"/>
              </a:ext>
            </a:extLst>
          </p:cNvPr>
          <p:cNvSpPr txBox="1"/>
          <p:nvPr/>
        </p:nvSpPr>
        <p:spPr>
          <a:xfrm>
            <a:off x="11823447" y="4311897"/>
            <a:ext cx="4864352" cy="646331"/>
          </a:xfrm>
          <a:prstGeom prst="rect">
            <a:avLst/>
          </a:prstGeom>
          <a:noFill/>
        </p:spPr>
        <p:txBody>
          <a:bodyPr wrap="square" rtlCol="0">
            <a:spAutoFit/>
          </a:bodyPr>
          <a:lstStyle/>
          <a:p>
            <a:r>
              <a:rPr lang="en-IN" sz="2000" dirty="0">
                <a:latin typeface="Lora Bold" panose="020B0604020202020204" charset="0"/>
              </a:rPr>
              <a:t>Mr. M.GNANA SRIKAR YADAV</a:t>
            </a:r>
          </a:p>
          <a:p>
            <a:r>
              <a:rPr lang="en-IN" sz="1600" dirty="0">
                <a:latin typeface="Lora Italics" panose="020B0604020202020204" charset="0"/>
              </a:rPr>
              <a:t>             STUDENT COORDINATOR</a:t>
            </a:r>
          </a:p>
        </p:txBody>
      </p:sp>
      <p:sp>
        <p:nvSpPr>
          <p:cNvPr id="38" name="TextBox 37">
            <a:extLst>
              <a:ext uri="{FF2B5EF4-FFF2-40B4-BE49-F238E27FC236}">
                <a16:creationId xmlns:a16="http://schemas.microsoft.com/office/drawing/2014/main" id="{C7737606-D6F8-8EEB-A7C2-DF8A5300B648}"/>
              </a:ext>
            </a:extLst>
          </p:cNvPr>
          <p:cNvSpPr txBox="1"/>
          <p:nvPr/>
        </p:nvSpPr>
        <p:spPr>
          <a:xfrm>
            <a:off x="7937248" y="9394941"/>
            <a:ext cx="3869757" cy="758722"/>
          </a:xfrm>
          <a:prstGeom prst="rect">
            <a:avLst/>
          </a:prstGeom>
          <a:noFill/>
        </p:spPr>
        <p:txBody>
          <a:bodyPr wrap="square">
            <a:spAutoFit/>
          </a:bodyPr>
          <a:lstStyle/>
          <a:p>
            <a:r>
              <a:rPr lang="en-IN" sz="2400" dirty="0">
                <a:latin typeface="Lora Bold" panose="020B0604020202020204" charset="0"/>
              </a:rPr>
              <a:t>   Mr. M. ABDUL KALAM</a:t>
            </a:r>
          </a:p>
          <a:p>
            <a:r>
              <a:rPr lang="en-IN" sz="1800" dirty="0">
                <a:latin typeface="Lora Italics" panose="020B0604020202020204" charset="0"/>
              </a:rPr>
              <a:t>                   SECRETARY</a:t>
            </a:r>
          </a:p>
        </p:txBody>
      </p:sp>
      <p:sp>
        <p:nvSpPr>
          <p:cNvPr id="40" name="TextBox 39">
            <a:extLst>
              <a:ext uri="{FF2B5EF4-FFF2-40B4-BE49-F238E27FC236}">
                <a16:creationId xmlns:a16="http://schemas.microsoft.com/office/drawing/2014/main" id="{B7F1A74E-8DE7-E847-B730-B0315B2F5132}"/>
              </a:ext>
            </a:extLst>
          </p:cNvPr>
          <p:cNvSpPr txBox="1"/>
          <p:nvPr/>
        </p:nvSpPr>
        <p:spPr>
          <a:xfrm>
            <a:off x="14220226" y="9351373"/>
            <a:ext cx="3499539" cy="738664"/>
          </a:xfrm>
          <a:prstGeom prst="rect">
            <a:avLst/>
          </a:prstGeom>
          <a:noFill/>
        </p:spPr>
        <p:txBody>
          <a:bodyPr wrap="square">
            <a:spAutoFit/>
          </a:bodyPr>
          <a:lstStyle/>
          <a:p>
            <a:pPr algn="ctr"/>
            <a:r>
              <a:rPr lang="en-IN" sz="2400" dirty="0">
                <a:latin typeface="Lora Bold" panose="020B0604020202020204" charset="0"/>
              </a:rPr>
              <a:t>  Mr. R.BALU</a:t>
            </a:r>
            <a:r>
              <a:rPr lang="en-IN" sz="1800" dirty="0">
                <a:latin typeface="Lora Italics" panose="020B0604020202020204" charset="0"/>
              </a:rPr>
              <a:t>                                                     </a:t>
            </a:r>
            <a:r>
              <a:rPr lang="en-IN" dirty="0">
                <a:latin typeface="Lora Italics" panose="020B0604020202020204" charset="0"/>
              </a:rPr>
              <a:t>TREASURER</a:t>
            </a:r>
            <a:r>
              <a:rPr lang="en-IN" sz="1800" dirty="0">
                <a:latin typeface="Lora Italics" panose="020B0604020202020204" charset="0"/>
              </a:rPr>
              <a:t>   </a:t>
            </a:r>
            <a:endParaRPr lang="en-IN" dirty="0"/>
          </a:p>
        </p:txBody>
      </p:sp>
      <p:pic>
        <p:nvPicPr>
          <p:cNvPr id="42" name="Picture 41">
            <a:extLst>
              <a:ext uri="{FF2B5EF4-FFF2-40B4-BE49-F238E27FC236}">
                <a16:creationId xmlns:a16="http://schemas.microsoft.com/office/drawing/2014/main" id="{BFE573DB-91A2-921B-4ECE-EBEA02DB8302}"/>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4462461" y="5297760"/>
            <a:ext cx="2898000" cy="3872903"/>
          </a:xfrm>
          <a:prstGeom prst="rect">
            <a:avLst/>
          </a:prstGeom>
        </p:spPr>
      </p:pic>
      <p:pic>
        <p:nvPicPr>
          <p:cNvPr id="44" name="Picture 43">
            <a:extLst>
              <a:ext uri="{FF2B5EF4-FFF2-40B4-BE49-F238E27FC236}">
                <a16:creationId xmlns:a16="http://schemas.microsoft.com/office/drawing/2014/main" id="{BB0B652A-BDDC-0CC2-7A31-2AAFAEA3151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525392" y="5184390"/>
            <a:ext cx="2830977" cy="407259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224030" y="5544436"/>
            <a:ext cx="6209853" cy="3713864"/>
            <a:chOff x="0" y="0"/>
            <a:chExt cx="8279804" cy="4951819"/>
          </a:xfrm>
        </p:grpSpPr>
        <p:pic>
          <p:nvPicPr>
            <p:cNvPr id="3" name="Picture 3"/>
            <p:cNvPicPr>
              <a:picLocks noChangeAspect="1"/>
            </p:cNvPicPr>
            <p:nvPr/>
          </p:nvPicPr>
          <p:blipFill>
            <a:blip r:embed="rId2"/>
            <a:srcRect t="5117" b="5117"/>
            <a:stretch>
              <a:fillRect/>
            </a:stretch>
          </p:blipFill>
          <p:spPr>
            <a:xfrm>
              <a:off x="0" y="0"/>
              <a:ext cx="8279804" cy="4951819"/>
            </a:xfrm>
            <a:prstGeom prst="rect">
              <a:avLst/>
            </a:prstGeom>
          </p:spPr>
        </p:pic>
      </p:grpSp>
      <p:grpSp>
        <p:nvGrpSpPr>
          <p:cNvPr id="4" name="Group 4"/>
          <p:cNvGrpSpPr/>
          <p:nvPr/>
        </p:nvGrpSpPr>
        <p:grpSpPr>
          <a:xfrm>
            <a:off x="13862710" y="5544436"/>
            <a:ext cx="3396590" cy="3713864"/>
            <a:chOff x="0" y="0"/>
            <a:chExt cx="4528787" cy="4951819"/>
          </a:xfrm>
        </p:grpSpPr>
        <p:pic>
          <p:nvPicPr>
            <p:cNvPr id="5" name="Picture 5"/>
            <p:cNvPicPr>
              <a:picLocks noChangeAspect="1"/>
            </p:cNvPicPr>
            <p:nvPr/>
          </p:nvPicPr>
          <p:blipFill>
            <a:blip r:embed="rId3"/>
            <a:srcRect l="4271" r="4271"/>
            <a:stretch>
              <a:fillRect/>
            </a:stretch>
          </p:blipFill>
          <p:spPr>
            <a:xfrm>
              <a:off x="0" y="0"/>
              <a:ext cx="4528787" cy="4951819"/>
            </a:xfrm>
            <a:prstGeom prst="rect">
              <a:avLst/>
            </a:prstGeom>
          </p:spPr>
        </p:pic>
      </p:grpSp>
      <p:grpSp>
        <p:nvGrpSpPr>
          <p:cNvPr id="6" name="Group 6"/>
          <p:cNvGrpSpPr/>
          <p:nvPr/>
        </p:nvGrpSpPr>
        <p:grpSpPr>
          <a:xfrm>
            <a:off x="11049447" y="1429636"/>
            <a:ext cx="6209853" cy="3713864"/>
            <a:chOff x="0" y="0"/>
            <a:chExt cx="8279804" cy="4951819"/>
          </a:xfrm>
        </p:grpSpPr>
        <p:pic>
          <p:nvPicPr>
            <p:cNvPr id="7" name="Picture 7"/>
            <p:cNvPicPr>
              <a:picLocks noChangeAspect="1"/>
            </p:cNvPicPr>
            <p:nvPr/>
          </p:nvPicPr>
          <p:blipFill>
            <a:blip r:embed="rId4"/>
            <a:srcRect l="15630" t="43144" r="30894"/>
            <a:stretch>
              <a:fillRect/>
            </a:stretch>
          </p:blipFill>
          <p:spPr>
            <a:xfrm>
              <a:off x="0" y="0"/>
              <a:ext cx="8279804" cy="4951819"/>
            </a:xfrm>
            <a:prstGeom prst="rect">
              <a:avLst/>
            </a:prstGeom>
          </p:spPr>
        </p:pic>
      </p:grpSp>
      <p:sp>
        <p:nvSpPr>
          <p:cNvPr id="8" name="TextBox 8"/>
          <p:cNvSpPr txBox="1"/>
          <p:nvPr/>
        </p:nvSpPr>
        <p:spPr>
          <a:xfrm>
            <a:off x="1028700" y="1591561"/>
            <a:ext cx="8540077" cy="2352675"/>
          </a:xfrm>
          <a:prstGeom prst="rect">
            <a:avLst/>
          </a:prstGeom>
        </p:spPr>
        <p:txBody>
          <a:bodyPr lIns="0" tIns="0" rIns="0" bIns="0" rtlCol="0" anchor="t">
            <a:spAutoFit/>
          </a:bodyPr>
          <a:lstStyle/>
          <a:p>
            <a:pPr>
              <a:lnSpc>
                <a:spcPts val="9000"/>
              </a:lnSpc>
            </a:pPr>
            <a:r>
              <a:rPr lang="en-US" sz="9000" dirty="0">
                <a:solidFill>
                  <a:srgbClr val="004AAD"/>
                </a:solidFill>
                <a:latin typeface="Lora Bold"/>
              </a:rPr>
              <a:t>OUR MAJOR EVENTS</a:t>
            </a:r>
          </a:p>
        </p:txBody>
      </p:sp>
      <p:sp>
        <p:nvSpPr>
          <p:cNvPr id="9" name="TextBox 9"/>
          <p:cNvSpPr txBox="1"/>
          <p:nvPr/>
        </p:nvSpPr>
        <p:spPr>
          <a:xfrm>
            <a:off x="1028700" y="4282952"/>
            <a:ext cx="5675789" cy="481330"/>
          </a:xfrm>
          <a:prstGeom prst="rect">
            <a:avLst/>
          </a:prstGeom>
        </p:spPr>
        <p:txBody>
          <a:bodyPr lIns="0" tIns="0" rIns="0" bIns="0" rtlCol="0" anchor="t">
            <a:spAutoFit/>
          </a:bodyPr>
          <a:lstStyle/>
          <a:p>
            <a:pPr>
              <a:lnSpc>
                <a:spcPts val="3919"/>
              </a:lnSpc>
            </a:pPr>
            <a:r>
              <a:rPr lang="en-US" sz="2799" dirty="0">
                <a:solidFill>
                  <a:srgbClr val="2E2E2E"/>
                </a:solidFill>
                <a:latin typeface="Lora Bold"/>
              </a:rPr>
              <a:t>BUILD YOUR FIRST MOBILE APP</a:t>
            </a:r>
          </a:p>
        </p:txBody>
      </p:sp>
      <p:sp>
        <p:nvSpPr>
          <p:cNvPr id="10" name="TextBox 10"/>
          <p:cNvSpPr txBox="1"/>
          <p:nvPr/>
        </p:nvSpPr>
        <p:spPr>
          <a:xfrm>
            <a:off x="1028700" y="5067300"/>
            <a:ext cx="5675789" cy="3681121"/>
          </a:xfrm>
          <a:prstGeom prst="rect">
            <a:avLst/>
          </a:prstGeom>
        </p:spPr>
        <p:txBody>
          <a:bodyPr lIns="0" tIns="0" rIns="0" bIns="0" rtlCol="0" anchor="t">
            <a:spAutoFit/>
          </a:bodyPr>
          <a:lstStyle/>
          <a:p>
            <a:pPr>
              <a:lnSpc>
                <a:spcPts val="3677"/>
              </a:lnSpc>
            </a:pPr>
            <a:r>
              <a:rPr lang="en-US" sz="2298" dirty="0">
                <a:solidFill>
                  <a:srgbClr val="2E2E2E"/>
                </a:solidFill>
                <a:latin typeface="Lora"/>
              </a:rPr>
              <a:t>The main objective of this event is inaugurating of our Skill bee club and to motivate students about how easy it is to develop an android application, PayScale’s of android app development, Freelancing opportunities and to teach about different concepts related to android app development</a:t>
            </a: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D89E083-0176-77C1-C92B-B160C335C121}"/>
              </a:ext>
            </a:extLst>
          </p:cNvPr>
          <p:cNvSpPr txBox="1"/>
          <p:nvPr/>
        </p:nvSpPr>
        <p:spPr>
          <a:xfrm>
            <a:off x="1371600" y="2171700"/>
            <a:ext cx="9144000" cy="566245"/>
          </a:xfrm>
          <a:prstGeom prst="rect">
            <a:avLst/>
          </a:prstGeom>
          <a:noFill/>
        </p:spPr>
        <p:txBody>
          <a:bodyPr wrap="square">
            <a:spAutoFit/>
          </a:bodyPr>
          <a:lstStyle/>
          <a:p>
            <a:pPr>
              <a:lnSpc>
                <a:spcPts val="3919"/>
              </a:lnSpc>
            </a:pPr>
            <a:r>
              <a:rPr lang="en-US" sz="3000" dirty="0">
                <a:solidFill>
                  <a:srgbClr val="2E2E2E"/>
                </a:solidFill>
                <a:latin typeface="Lora Bold"/>
              </a:rPr>
              <a:t>OPEN MIC MASTERING</a:t>
            </a:r>
          </a:p>
        </p:txBody>
      </p:sp>
      <p:sp>
        <p:nvSpPr>
          <p:cNvPr id="7" name="TextBox 6">
            <a:extLst>
              <a:ext uri="{FF2B5EF4-FFF2-40B4-BE49-F238E27FC236}">
                <a16:creationId xmlns:a16="http://schemas.microsoft.com/office/drawing/2014/main" id="{480ECFFA-86C3-1B19-B28B-E585AE635B70}"/>
              </a:ext>
            </a:extLst>
          </p:cNvPr>
          <p:cNvSpPr txBox="1"/>
          <p:nvPr/>
        </p:nvSpPr>
        <p:spPr>
          <a:xfrm>
            <a:off x="1295400" y="3435340"/>
            <a:ext cx="6553200" cy="4247317"/>
          </a:xfrm>
          <a:prstGeom prst="rect">
            <a:avLst/>
          </a:prstGeom>
          <a:noFill/>
        </p:spPr>
        <p:txBody>
          <a:bodyPr wrap="square">
            <a:spAutoFit/>
          </a:bodyPr>
          <a:lstStyle/>
          <a:p>
            <a:r>
              <a:rPr lang="en-US" sz="2700" dirty="0">
                <a:latin typeface="Lora "/>
              </a:rPr>
              <a:t>The main objective of this event was to introduce public speaking as a learnable skill, help students overcome stage fear, and highlight its importance in personal and professional growth. It aimed to break common myths, boost confidence, and encourage students to express themselves through engaging sessions, expert talks, and active participation.</a:t>
            </a:r>
          </a:p>
        </p:txBody>
      </p:sp>
      <p:pic>
        <p:nvPicPr>
          <p:cNvPr id="9" name="Picture 8">
            <a:extLst>
              <a:ext uri="{FF2B5EF4-FFF2-40B4-BE49-F238E27FC236}">
                <a16:creationId xmlns:a16="http://schemas.microsoft.com/office/drawing/2014/main" id="{1504A237-9A17-D682-52AD-19AFD7DC29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1000" y="2849311"/>
            <a:ext cx="9829800" cy="4699745"/>
          </a:xfrm>
          <a:prstGeom prst="rect">
            <a:avLst/>
          </a:prstGeom>
        </p:spPr>
      </p:pic>
      <p:sp>
        <p:nvSpPr>
          <p:cNvPr id="11" name="Freeform 2">
            <a:extLst>
              <a:ext uri="{FF2B5EF4-FFF2-40B4-BE49-F238E27FC236}">
                <a16:creationId xmlns:a16="http://schemas.microsoft.com/office/drawing/2014/main" id="{F71EB6FF-78B4-3CBF-15EB-9A15DFF9B2EB}"/>
              </a:ext>
            </a:extLst>
          </p:cNvPr>
          <p:cNvSpPr/>
          <p:nvPr/>
        </p:nvSpPr>
        <p:spPr>
          <a:xfrm rot="4408728">
            <a:off x="-7746416" y="-5955716"/>
            <a:ext cx="15887340" cy="15887340"/>
          </a:xfrm>
          <a:custGeom>
            <a:avLst/>
            <a:gdLst/>
            <a:ahLst/>
            <a:cxnLst/>
            <a:rect l="l" t="t" r="r" b="b"/>
            <a:pathLst>
              <a:path w="15887340" h="15887340">
                <a:moveTo>
                  <a:pt x="0" y="0"/>
                </a:moveTo>
                <a:lnTo>
                  <a:pt x="15887341" y="0"/>
                </a:lnTo>
                <a:lnTo>
                  <a:pt x="15887341" y="15887340"/>
                </a:lnTo>
                <a:lnTo>
                  <a:pt x="0" y="15887340"/>
                </a:lnTo>
                <a:lnTo>
                  <a:pt x="0" y="0"/>
                </a:lnTo>
                <a:close/>
              </a:path>
            </a:pathLst>
          </a:custGeom>
          <a:blipFill>
            <a:blip r:embed="rId3">
              <a:alphaModFix amt="35000"/>
              <a:extLst>
                <a:ext uri="{96DAC541-7B7A-43D3-8B79-37D633B846F1}">
                  <asvg:svgBlip xmlns:asvg="http://schemas.microsoft.com/office/drawing/2016/SVG/main" r:embed="rId4"/>
                </a:ext>
              </a:extLst>
            </a:blip>
            <a:stretch>
              <a:fillRect/>
            </a:stretch>
          </a:blipFill>
          <a:effectLst>
            <a:reflection blurRad="6350" stA="52000" endA="300" endPos="35000" dir="5400000" sy="-100000" algn="bl" rotWithShape="0"/>
          </a:effectLst>
        </p:spPr>
        <p:txBody>
          <a:bodyPr/>
          <a:lstStyle/>
          <a:p>
            <a:endParaRPr lang="en-IN" sz="1800" dirty="0">
              <a:latin typeface="Lora Italics" panose="020B0604020202020204" charset="0"/>
            </a:endParaRPr>
          </a:p>
        </p:txBody>
      </p:sp>
      <p:sp>
        <p:nvSpPr>
          <p:cNvPr id="12" name="Freeform 23">
            <a:extLst>
              <a:ext uri="{FF2B5EF4-FFF2-40B4-BE49-F238E27FC236}">
                <a16:creationId xmlns:a16="http://schemas.microsoft.com/office/drawing/2014/main" id="{2EA2A051-30D0-E1F6-2BE1-6C5F8E1CC10B}"/>
              </a:ext>
            </a:extLst>
          </p:cNvPr>
          <p:cNvSpPr/>
          <p:nvPr/>
        </p:nvSpPr>
        <p:spPr>
          <a:xfrm rot="1082301">
            <a:off x="5457071" y="6483331"/>
            <a:ext cx="11928886" cy="8231043"/>
          </a:xfrm>
          <a:custGeom>
            <a:avLst/>
            <a:gdLst/>
            <a:ahLst/>
            <a:cxnLst/>
            <a:rect l="l" t="t" r="r" b="b"/>
            <a:pathLst>
              <a:path w="11928886" h="8231043">
                <a:moveTo>
                  <a:pt x="0" y="0"/>
                </a:moveTo>
                <a:lnTo>
                  <a:pt x="11928886" y="0"/>
                </a:lnTo>
                <a:lnTo>
                  <a:pt x="11928886" y="8231043"/>
                </a:lnTo>
                <a:lnTo>
                  <a:pt x="0" y="8231043"/>
                </a:lnTo>
                <a:lnTo>
                  <a:pt x="0" y="0"/>
                </a:lnTo>
                <a:close/>
              </a:path>
            </a:pathLst>
          </a:custGeom>
          <a:blipFill>
            <a:blip r:embed="rId5">
              <a:alphaModFix amt="50000"/>
              <a:extLst>
                <a:ext uri="{96DAC541-7B7A-43D3-8B79-37D633B846F1}">
                  <asvg:svgBlip xmlns:asvg="http://schemas.microsoft.com/office/drawing/2016/SVG/main" r:embed="rId6"/>
                </a:ext>
              </a:extLst>
            </a:blip>
            <a:stretch>
              <a:fillRect/>
            </a:stretch>
          </a:blipFill>
        </p:spPr>
      </p:sp>
    </p:spTree>
    <p:extLst>
      <p:ext uri="{BB962C8B-B14F-4D97-AF65-F5344CB8AC3E}">
        <p14:creationId xmlns:p14="http://schemas.microsoft.com/office/powerpoint/2010/main" val="391686674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BCB12E-81F2-0EA7-532B-6CC3211FC9FA}"/>
              </a:ext>
            </a:extLst>
          </p:cNvPr>
          <p:cNvSpPr txBox="1"/>
          <p:nvPr/>
        </p:nvSpPr>
        <p:spPr>
          <a:xfrm>
            <a:off x="1295400" y="1866900"/>
            <a:ext cx="9144000" cy="566245"/>
          </a:xfrm>
          <a:prstGeom prst="rect">
            <a:avLst/>
          </a:prstGeom>
          <a:noFill/>
        </p:spPr>
        <p:txBody>
          <a:bodyPr wrap="square">
            <a:spAutoFit/>
          </a:bodyPr>
          <a:lstStyle/>
          <a:p>
            <a:pPr>
              <a:lnSpc>
                <a:spcPts val="3919"/>
              </a:lnSpc>
            </a:pPr>
            <a:r>
              <a:rPr lang="en-US" sz="3000" dirty="0">
                <a:solidFill>
                  <a:srgbClr val="2E2E2E"/>
                </a:solidFill>
                <a:latin typeface="Lora Bold"/>
              </a:rPr>
              <a:t>EMPOWER YOUR VOICE</a:t>
            </a:r>
          </a:p>
        </p:txBody>
      </p:sp>
      <p:sp>
        <p:nvSpPr>
          <p:cNvPr id="5" name="TextBox 4">
            <a:extLst>
              <a:ext uri="{FF2B5EF4-FFF2-40B4-BE49-F238E27FC236}">
                <a16:creationId xmlns:a16="http://schemas.microsoft.com/office/drawing/2014/main" id="{48B0DFFE-2B72-2184-6CA8-D950D97347E3}"/>
              </a:ext>
            </a:extLst>
          </p:cNvPr>
          <p:cNvSpPr txBox="1"/>
          <p:nvPr/>
        </p:nvSpPr>
        <p:spPr>
          <a:xfrm>
            <a:off x="1295400" y="2933700"/>
            <a:ext cx="7848600" cy="5282023"/>
          </a:xfrm>
          <a:prstGeom prst="rect">
            <a:avLst/>
          </a:prstGeom>
          <a:noFill/>
        </p:spPr>
        <p:txBody>
          <a:bodyPr wrap="square">
            <a:spAutoFit/>
          </a:bodyPr>
          <a:lstStyle/>
          <a:p>
            <a:pPr>
              <a:lnSpc>
                <a:spcPts val="3677"/>
              </a:lnSpc>
            </a:pPr>
            <a:r>
              <a:rPr lang="en-US" sz="2700" dirty="0">
                <a:latin typeface="Times New Roman" panose="02020603050405020304" pitchFamily="18" charset="0"/>
                <a:cs typeface="Times New Roman" panose="02020603050405020304" pitchFamily="18" charset="0"/>
              </a:rPr>
              <a:t>The</a:t>
            </a:r>
            <a:r>
              <a:rPr lang="en-US" sz="2700" dirty="0">
                <a:latin typeface="Lora "/>
              </a:rPr>
              <a:t> main objective of this event is </a:t>
            </a:r>
          </a:p>
          <a:p>
            <a:pPr>
              <a:lnSpc>
                <a:spcPts val="3677"/>
              </a:lnSpc>
            </a:pPr>
            <a:r>
              <a:rPr lang="en-US" sz="2700" dirty="0">
                <a:latin typeface="Lora "/>
              </a:rPr>
              <a:t>to motivate students to overcome stage fear, improve their communication skills, and build self-confidence. The event also aimed to highlight the importance of public speaking, leadership, and self-expression in both personal and professional life. Through expert-led sessions, students were introduced to key concepts like stage presence, body language, storytelling, and the significance of leadership and clear communication</a:t>
            </a:r>
            <a:endParaRPr lang="en-US" sz="2700" dirty="0">
              <a:solidFill>
                <a:srgbClr val="2E2E2E"/>
              </a:solidFill>
              <a:latin typeface="Lora"/>
            </a:endParaRPr>
          </a:p>
        </p:txBody>
      </p:sp>
      <p:sp>
        <p:nvSpPr>
          <p:cNvPr id="6" name="Freeform 2">
            <a:extLst>
              <a:ext uri="{FF2B5EF4-FFF2-40B4-BE49-F238E27FC236}">
                <a16:creationId xmlns:a16="http://schemas.microsoft.com/office/drawing/2014/main" id="{C5BB8211-7CD1-AFD3-D7B8-BD6F9EEA3B1C}"/>
              </a:ext>
            </a:extLst>
          </p:cNvPr>
          <p:cNvSpPr/>
          <p:nvPr/>
        </p:nvSpPr>
        <p:spPr>
          <a:xfrm rot="-1625759">
            <a:off x="-3981240" y="-265499"/>
            <a:ext cx="7657679" cy="7590172"/>
          </a:xfrm>
          <a:custGeom>
            <a:avLst/>
            <a:gdLst/>
            <a:ahLst/>
            <a:cxnLst/>
            <a:rect l="l" t="t" r="r" b="b"/>
            <a:pathLst>
              <a:path w="10884489" h="8846121">
                <a:moveTo>
                  <a:pt x="0" y="0"/>
                </a:moveTo>
                <a:lnTo>
                  <a:pt x="10884489" y="0"/>
                </a:lnTo>
                <a:lnTo>
                  <a:pt x="10884489" y="8846120"/>
                </a:lnTo>
                <a:lnTo>
                  <a:pt x="0" y="8846120"/>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txBody>
          <a:bodyPr/>
          <a:lstStyle/>
          <a:p>
            <a:endParaRPr lang="en-IN" dirty="0"/>
          </a:p>
        </p:txBody>
      </p:sp>
      <p:pic>
        <p:nvPicPr>
          <p:cNvPr id="7" name="Picture 6">
            <a:extLst>
              <a:ext uri="{FF2B5EF4-FFF2-40B4-BE49-F238E27FC236}">
                <a16:creationId xmlns:a16="http://schemas.microsoft.com/office/drawing/2014/main" id="{B891E8CD-FDD3-9566-DF6F-E76F4619C0E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21072" b="12474"/>
          <a:stretch/>
        </p:blipFill>
        <p:spPr bwMode="auto">
          <a:xfrm>
            <a:off x="10591800" y="2150022"/>
            <a:ext cx="6036310" cy="2672401"/>
          </a:xfrm>
          <a:prstGeom prst="rect">
            <a:avLst/>
          </a:prstGeom>
          <a:noFill/>
          <a:ln>
            <a:noFill/>
          </a:ln>
          <a:extLst>
            <a:ext uri="{53640926-AAD7-44D8-BBD7-CCE9431645EC}">
              <a14:shadowObscured xmlns:a14="http://schemas.microsoft.com/office/drawing/2010/main"/>
            </a:ext>
          </a:extLst>
        </p:spPr>
      </p:pic>
      <p:pic>
        <p:nvPicPr>
          <p:cNvPr id="8" name="Picture 7" descr="A group of people in a classroom&#10;&#10;Description automatically generated">
            <a:extLst>
              <a:ext uri="{FF2B5EF4-FFF2-40B4-BE49-F238E27FC236}">
                <a16:creationId xmlns:a16="http://schemas.microsoft.com/office/drawing/2014/main" id="{ED946160-80F9-7271-0F8C-F5D135FB08FE}"/>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27962" b="9409"/>
          <a:stretch/>
        </p:blipFill>
        <p:spPr bwMode="auto">
          <a:xfrm>
            <a:off x="10573092" y="5979712"/>
            <a:ext cx="6404268" cy="267240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50155718"/>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1AA281-1FF7-AE37-CF83-F4F276BA2A1B}"/>
              </a:ext>
            </a:extLst>
          </p:cNvPr>
          <p:cNvSpPr txBox="1"/>
          <p:nvPr/>
        </p:nvSpPr>
        <p:spPr>
          <a:xfrm>
            <a:off x="1219200" y="1638300"/>
            <a:ext cx="9144000" cy="566245"/>
          </a:xfrm>
          <a:prstGeom prst="rect">
            <a:avLst/>
          </a:prstGeom>
          <a:noFill/>
        </p:spPr>
        <p:txBody>
          <a:bodyPr wrap="square">
            <a:spAutoFit/>
          </a:bodyPr>
          <a:lstStyle/>
          <a:p>
            <a:pPr>
              <a:lnSpc>
                <a:spcPts val="3919"/>
              </a:lnSpc>
            </a:pPr>
            <a:r>
              <a:rPr lang="en-US" sz="3000" dirty="0">
                <a:solidFill>
                  <a:srgbClr val="2E2E2E"/>
                </a:solidFill>
                <a:latin typeface="Lora Bold"/>
              </a:rPr>
              <a:t>START UP STARK</a:t>
            </a:r>
          </a:p>
        </p:txBody>
      </p:sp>
      <p:sp>
        <p:nvSpPr>
          <p:cNvPr id="5" name="TextBox 4">
            <a:extLst>
              <a:ext uri="{FF2B5EF4-FFF2-40B4-BE49-F238E27FC236}">
                <a16:creationId xmlns:a16="http://schemas.microsoft.com/office/drawing/2014/main" id="{9D4FFF81-AA90-E8CC-E9BA-E9D55F1493EC}"/>
              </a:ext>
            </a:extLst>
          </p:cNvPr>
          <p:cNvSpPr txBox="1"/>
          <p:nvPr/>
        </p:nvSpPr>
        <p:spPr>
          <a:xfrm>
            <a:off x="1219200" y="2705100"/>
            <a:ext cx="8458200" cy="5078313"/>
          </a:xfrm>
          <a:prstGeom prst="rect">
            <a:avLst/>
          </a:prstGeom>
          <a:noFill/>
        </p:spPr>
        <p:txBody>
          <a:bodyPr wrap="square">
            <a:spAutoFit/>
          </a:bodyPr>
          <a:lstStyle/>
          <a:p>
            <a:r>
              <a:rPr lang="en-US" sz="2700" dirty="0">
                <a:latin typeface="Lora "/>
              </a:rPr>
              <a:t>The main objective of this event is </a:t>
            </a:r>
          </a:p>
          <a:p>
            <a:r>
              <a:rPr lang="en-US" sz="2700" dirty="0">
                <a:latin typeface="Lora "/>
              </a:rPr>
              <a:t>to motivate students to explore the world of entrepreneurship and startups. It aimed to educate them on how startup ideas can be transformed into successful ventures, the differences between startups and traditional businesses, and the role of innovation in solving real-world problems. The event also highlighted funding opportunities, market trends, and the importance of networking, while inspiring students to develop confidence, communication, and leadership skills essential for entrepreneurial success.</a:t>
            </a:r>
          </a:p>
        </p:txBody>
      </p:sp>
      <p:sp>
        <p:nvSpPr>
          <p:cNvPr id="6" name="Freeform 2">
            <a:extLst>
              <a:ext uri="{FF2B5EF4-FFF2-40B4-BE49-F238E27FC236}">
                <a16:creationId xmlns:a16="http://schemas.microsoft.com/office/drawing/2014/main" id="{26F839C0-4293-6320-566A-CBC15FCF172E}"/>
              </a:ext>
            </a:extLst>
          </p:cNvPr>
          <p:cNvSpPr/>
          <p:nvPr/>
        </p:nvSpPr>
        <p:spPr>
          <a:xfrm rot="-1625759">
            <a:off x="8440966" y="3326892"/>
            <a:ext cx="10884489" cy="8846121"/>
          </a:xfrm>
          <a:custGeom>
            <a:avLst/>
            <a:gdLst/>
            <a:ahLst/>
            <a:cxnLst/>
            <a:rect l="l" t="t" r="r" b="b"/>
            <a:pathLst>
              <a:path w="10884489" h="8846121">
                <a:moveTo>
                  <a:pt x="0" y="0"/>
                </a:moveTo>
                <a:lnTo>
                  <a:pt x="10884489" y="0"/>
                </a:lnTo>
                <a:lnTo>
                  <a:pt x="10884489" y="8846120"/>
                </a:lnTo>
                <a:lnTo>
                  <a:pt x="0" y="8846120"/>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pic>
        <p:nvPicPr>
          <p:cNvPr id="8" name="Picture 7">
            <a:extLst>
              <a:ext uri="{FF2B5EF4-FFF2-40B4-BE49-F238E27FC236}">
                <a16:creationId xmlns:a16="http://schemas.microsoft.com/office/drawing/2014/main" id="{AFBF8488-1E8E-55C1-571F-161E827E67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64221" y="5676900"/>
            <a:ext cx="7467600" cy="3124200"/>
          </a:xfrm>
          <a:prstGeom prst="rect">
            <a:avLst/>
          </a:prstGeom>
        </p:spPr>
      </p:pic>
      <p:pic>
        <p:nvPicPr>
          <p:cNvPr id="10" name="Picture 9">
            <a:extLst>
              <a:ext uri="{FF2B5EF4-FFF2-40B4-BE49-F238E27FC236}">
                <a16:creationId xmlns:a16="http://schemas.microsoft.com/office/drawing/2014/main" id="{D27F3EE7-0E0D-8E26-4645-018F2A3960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34600" y="1485900"/>
            <a:ext cx="7497221" cy="3486637"/>
          </a:xfrm>
          <a:prstGeom prst="rect">
            <a:avLst/>
          </a:prstGeom>
        </p:spPr>
      </p:pic>
    </p:spTree>
    <p:extLst>
      <p:ext uri="{BB962C8B-B14F-4D97-AF65-F5344CB8AC3E}">
        <p14:creationId xmlns:p14="http://schemas.microsoft.com/office/powerpoint/2010/main" val="185188614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C2367A-3FE6-2FED-7B3F-B77D5B14CECB}"/>
              </a:ext>
            </a:extLst>
          </p:cNvPr>
          <p:cNvSpPr txBox="1"/>
          <p:nvPr/>
        </p:nvSpPr>
        <p:spPr>
          <a:xfrm>
            <a:off x="1329502" y="1181100"/>
            <a:ext cx="9144000" cy="1066382"/>
          </a:xfrm>
          <a:prstGeom prst="rect">
            <a:avLst/>
          </a:prstGeom>
          <a:noFill/>
        </p:spPr>
        <p:txBody>
          <a:bodyPr wrap="square">
            <a:spAutoFit/>
          </a:bodyPr>
          <a:lstStyle/>
          <a:p>
            <a:pPr>
              <a:lnSpc>
                <a:spcPts val="3919"/>
              </a:lnSpc>
            </a:pPr>
            <a:r>
              <a:rPr lang="en-US" sz="3000" dirty="0">
                <a:solidFill>
                  <a:srgbClr val="2E2E2E"/>
                </a:solidFill>
                <a:latin typeface="Lora Bold"/>
              </a:rPr>
              <a:t>UI/UX DESIGN PROTOTYPING</a:t>
            </a:r>
          </a:p>
          <a:p>
            <a:pPr>
              <a:lnSpc>
                <a:spcPts val="3919"/>
              </a:lnSpc>
            </a:pPr>
            <a:r>
              <a:rPr lang="en-US" sz="3000" dirty="0">
                <a:solidFill>
                  <a:srgbClr val="2E2E2E"/>
                </a:solidFill>
                <a:latin typeface="Lora Bold"/>
              </a:rPr>
              <a:t> WORKSHOP</a:t>
            </a:r>
          </a:p>
        </p:txBody>
      </p:sp>
      <p:sp>
        <p:nvSpPr>
          <p:cNvPr id="5" name="TextBox 4">
            <a:extLst>
              <a:ext uri="{FF2B5EF4-FFF2-40B4-BE49-F238E27FC236}">
                <a16:creationId xmlns:a16="http://schemas.microsoft.com/office/drawing/2014/main" id="{D072E36D-8094-1881-643A-709F442EFA0E}"/>
              </a:ext>
            </a:extLst>
          </p:cNvPr>
          <p:cNvSpPr txBox="1"/>
          <p:nvPr/>
        </p:nvSpPr>
        <p:spPr>
          <a:xfrm>
            <a:off x="1371600" y="2400300"/>
            <a:ext cx="8138160" cy="5078313"/>
          </a:xfrm>
          <a:prstGeom prst="rect">
            <a:avLst/>
          </a:prstGeom>
          <a:noFill/>
        </p:spPr>
        <p:txBody>
          <a:bodyPr wrap="square">
            <a:spAutoFit/>
          </a:bodyPr>
          <a:lstStyle/>
          <a:p>
            <a:r>
              <a:rPr lang="en-US" sz="2700" dirty="0">
                <a:latin typeface="Lora "/>
              </a:rPr>
              <a:t>The main objective of this event is </a:t>
            </a:r>
          </a:p>
          <a:p>
            <a:r>
              <a:rPr lang="en-US" sz="2700" dirty="0">
                <a:latin typeface="Lora "/>
              </a:rPr>
              <a:t>to motivate students by showing how simple and impactful UI/UX design can be. It aimed to introduce the fundamentals of user interface and user experience design, the tools used in the industry, and the growing demand for skilled designers. The event also highlighted freelancing opportunities, the potential pay scale in UI/UX roles, and provided hands-on training in designing responsive and user-friendly web pages, preparing students for real-world design and development careers.</a:t>
            </a:r>
          </a:p>
        </p:txBody>
      </p:sp>
      <p:sp>
        <p:nvSpPr>
          <p:cNvPr id="8" name="Freeform 11">
            <a:extLst>
              <a:ext uri="{FF2B5EF4-FFF2-40B4-BE49-F238E27FC236}">
                <a16:creationId xmlns:a16="http://schemas.microsoft.com/office/drawing/2014/main" id="{82651BA6-148B-6286-98D3-33A7F41F4A70}"/>
              </a:ext>
            </a:extLst>
          </p:cNvPr>
          <p:cNvSpPr/>
          <p:nvPr/>
        </p:nvSpPr>
        <p:spPr>
          <a:xfrm rot="5242519" flipH="1">
            <a:off x="-1324446" y="7010453"/>
            <a:ext cx="8063091" cy="6553094"/>
          </a:xfrm>
          <a:custGeom>
            <a:avLst/>
            <a:gdLst/>
            <a:ahLst/>
            <a:cxnLst/>
            <a:rect l="l" t="t" r="r" b="b"/>
            <a:pathLst>
              <a:path w="8063091" h="6553094">
                <a:moveTo>
                  <a:pt x="8063091" y="0"/>
                </a:moveTo>
                <a:lnTo>
                  <a:pt x="0" y="0"/>
                </a:lnTo>
                <a:lnTo>
                  <a:pt x="0" y="6553094"/>
                </a:lnTo>
                <a:lnTo>
                  <a:pt x="8063091" y="6553094"/>
                </a:lnTo>
                <a:lnTo>
                  <a:pt x="8063091"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pic>
        <p:nvPicPr>
          <p:cNvPr id="9" name="Picture 8">
            <a:extLst>
              <a:ext uri="{FF2B5EF4-FFF2-40B4-BE49-F238E27FC236}">
                <a16:creationId xmlns:a16="http://schemas.microsoft.com/office/drawing/2014/main" id="{3AC9F658-A1B8-C870-FB92-4DCC128C76A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56290" y="723900"/>
            <a:ext cx="5731510" cy="4013200"/>
          </a:xfrm>
          <a:prstGeom prst="rect">
            <a:avLst/>
          </a:prstGeom>
        </p:spPr>
      </p:pic>
      <p:pic>
        <p:nvPicPr>
          <p:cNvPr id="10" name="Picture 9">
            <a:extLst>
              <a:ext uri="{FF2B5EF4-FFF2-40B4-BE49-F238E27FC236}">
                <a16:creationId xmlns:a16="http://schemas.microsoft.com/office/drawing/2014/main" id="{DD879B92-AFAE-608E-7524-3981F85E08D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20935" r="18958" b="1068"/>
          <a:stretch/>
        </p:blipFill>
        <p:spPr bwMode="auto">
          <a:xfrm>
            <a:off x="10473502" y="5182203"/>
            <a:ext cx="3272978" cy="3923697"/>
          </a:xfrm>
          <a:prstGeom prst="rect">
            <a:avLst/>
          </a:prstGeom>
          <a:ln>
            <a:noFill/>
          </a:ln>
          <a:extLst>
            <a:ext uri="{53640926-AAD7-44D8-BBD7-CCE9431645EC}">
              <a14:shadowObscured xmlns:a14="http://schemas.microsoft.com/office/drawing/2010/main"/>
            </a:ext>
          </a:extLst>
        </p:spPr>
      </p:pic>
      <p:pic>
        <p:nvPicPr>
          <p:cNvPr id="11" name="Picture 10">
            <a:extLst>
              <a:ext uri="{FF2B5EF4-FFF2-40B4-BE49-F238E27FC236}">
                <a16:creationId xmlns:a16="http://schemas.microsoft.com/office/drawing/2014/main" id="{8EE6D0DA-C03F-3963-95B6-0458E930093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089132" y="5174583"/>
            <a:ext cx="3272978" cy="3923697"/>
          </a:xfrm>
          <a:prstGeom prst="rect">
            <a:avLst/>
          </a:prstGeom>
        </p:spPr>
      </p:pic>
    </p:spTree>
    <p:extLst>
      <p:ext uri="{BB962C8B-B14F-4D97-AF65-F5344CB8AC3E}">
        <p14:creationId xmlns:p14="http://schemas.microsoft.com/office/powerpoint/2010/main" val="35631046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930669">
            <a:off x="-7971294" y="-10725049"/>
            <a:ext cx="18539921" cy="18539921"/>
          </a:xfrm>
          <a:custGeom>
            <a:avLst/>
            <a:gdLst/>
            <a:ahLst/>
            <a:cxnLst/>
            <a:rect l="l" t="t" r="r" b="b"/>
            <a:pathLst>
              <a:path w="18539921" h="18539921">
                <a:moveTo>
                  <a:pt x="0" y="0"/>
                </a:moveTo>
                <a:lnTo>
                  <a:pt x="18539921" y="0"/>
                </a:lnTo>
                <a:lnTo>
                  <a:pt x="18539921" y="18539921"/>
                </a:lnTo>
                <a:lnTo>
                  <a:pt x="0" y="18539921"/>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0883994" y="1953724"/>
            <a:ext cx="736600" cy="736600"/>
          </a:xfrm>
          <a:custGeom>
            <a:avLst/>
            <a:gdLst/>
            <a:ahLst/>
            <a:cxnLst/>
            <a:rect l="l" t="t" r="r" b="b"/>
            <a:pathLst>
              <a:path w="736600" h="736600">
                <a:moveTo>
                  <a:pt x="0" y="0"/>
                </a:moveTo>
                <a:lnTo>
                  <a:pt x="736600" y="0"/>
                </a:lnTo>
                <a:lnTo>
                  <a:pt x="736600" y="736600"/>
                </a:lnTo>
                <a:lnTo>
                  <a:pt x="0" y="7366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9144000" y="5850707"/>
            <a:ext cx="736600" cy="736600"/>
          </a:xfrm>
          <a:custGeom>
            <a:avLst/>
            <a:gdLst/>
            <a:ahLst/>
            <a:cxnLst/>
            <a:rect l="l" t="t" r="r" b="b"/>
            <a:pathLst>
              <a:path w="736600" h="736600">
                <a:moveTo>
                  <a:pt x="0" y="0"/>
                </a:moveTo>
                <a:lnTo>
                  <a:pt x="736600" y="0"/>
                </a:lnTo>
                <a:lnTo>
                  <a:pt x="736600" y="736600"/>
                </a:lnTo>
                <a:lnTo>
                  <a:pt x="0" y="7366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028700" y="2256825"/>
            <a:ext cx="8572512" cy="1209675"/>
          </a:xfrm>
          <a:prstGeom prst="rect">
            <a:avLst/>
          </a:prstGeom>
        </p:spPr>
        <p:txBody>
          <a:bodyPr lIns="0" tIns="0" rIns="0" bIns="0" rtlCol="0" anchor="t">
            <a:spAutoFit/>
          </a:bodyPr>
          <a:lstStyle/>
          <a:p>
            <a:pPr>
              <a:lnSpc>
                <a:spcPts val="9000"/>
              </a:lnSpc>
            </a:pPr>
            <a:r>
              <a:rPr lang="en-US" sz="9000">
                <a:solidFill>
                  <a:srgbClr val="004AAD"/>
                </a:solidFill>
                <a:latin typeface="Lora Bold"/>
              </a:rPr>
              <a:t>THE PROCESS</a:t>
            </a:r>
          </a:p>
        </p:txBody>
      </p:sp>
      <p:sp>
        <p:nvSpPr>
          <p:cNvPr id="6" name="TextBox 6"/>
          <p:cNvSpPr txBox="1"/>
          <p:nvPr/>
        </p:nvSpPr>
        <p:spPr>
          <a:xfrm>
            <a:off x="1028700" y="3873129"/>
            <a:ext cx="7724775" cy="2482850"/>
          </a:xfrm>
          <a:prstGeom prst="rect">
            <a:avLst/>
          </a:prstGeom>
        </p:spPr>
        <p:txBody>
          <a:bodyPr lIns="0" tIns="0" rIns="0" bIns="0" rtlCol="0" anchor="t">
            <a:spAutoFit/>
          </a:bodyPr>
          <a:lstStyle/>
          <a:p>
            <a:pPr>
              <a:lnSpc>
                <a:spcPts val="3999"/>
              </a:lnSpc>
            </a:pPr>
            <a:r>
              <a:rPr lang="en-US" sz="2499">
                <a:solidFill>
                  <a:srgbClr val="2E2E2E"/>
                </a:solidFill>
                <a:latin typeface="Lora"/>
              </a:rPr>
              <a:t>This two-step approach combines the benefits of hands-on, in-person instruction with the flexibility and accessibility of online resources, ensuring that participants receive a comprehensive and valuable learning experience.</a:t>
            </a:r>
          </a:p>
        </p:txBody>
      </p:sp>
      <p:sp>
        <p:nvSpPr>
          <p:cNvPr id="7" name="TextBox 7"/>
          <p:cNvSpPr txBox="1"/>
          <p:nvPr/>
        </p:nvSpPr>
        <p:spPr>
          <a:xfrm>
            <a:off x="12007372" y="1906099"/>
            <a:ext cx="5251928" cy="495301"/>
          </a:xfrm>
          <a:prstGeom prst="rect">
            <a:avLst/>
          </a:prstGeom>
        </p:spPr>
        <p:txBody>
          <a:bodyPr lIns="0" tIns="0" rIns="0" bIns="0" rtlCol="0" anchor="t">
            <a:spAutoFit/>
          </a:bodyPr>
          <a:lstStyle/>
          <a:p>
            <a:pPr>
              <a:lnSpc>
                <a:spcPts val="4199"/>
              </a:lnSpc>
            </a:pPr>
            <a:r>
              <a:rPr lang="en-US" sz="2999">
                <a:solidFill>
                  <a:srgbClr val="2E2E2E"/>
                </a:solidFill>
                <a:latin typeface="Lora Bold"/>
              </a:rPr>
              <a:t> In-Person Workshop</a:t>
            </a:r>
          </a:p>
        </p:txBody>
      </p:sp>
      <p:sp>
        <p:nvSpPr>
          <p:cNvPr id="8" name="TextBox 8"/>
          <p:cNvSpPr txBox="1"/>
          <p:nvPr/>
        </p:nvSpPr>
        <p:spPr>
          <a:xfrm>
            <a:off x="12007372" y="2442675"/>
            <a:ext cx="6280628" cy="3066415"/>
          </a:xfrm>
          <a:prstGeom prst="rect">
            <a:avLst/>
          </a:prstGeom>
        </p:spPr>
        <p:txBody>
          <a:bodyPr lIns="0" tIns="0" rIns="0" bIns="0" rtlCol="0" anchor="t">
            <a:spAutoFit/>
          </a:bodyPr>
          <a:lstStyle/>
          <a:p>
            <a:pPr marL="367031" lvl="1" indent="-183515">
              <a:lnSpc>
                <a:spcPts val="2720"/>
              </a:lnSpc>
              <a:buFont typeface="Arial"/>
              <a:buChar char="•"/>
            </a:pPr>
            <a:r>
              <a:rPr lang="en-US" sz="1700">
                <a:solidFill>
                  <a:srgbClr val="2E2E2E"/>
                </a:solidFill>
                <a:latin typeface="Lora"/>
              </a:rPr>
              <a:t>In the first step, we will conduct an engaging and interactive in-person workshop held in a suitable hall.</a:t>
            </a:r>
          </a:p>
          <a:p>
            <a:pPr marL="367031" lvl="1" indent="-183515">
              <a:lnSpc>
                <a:spcPts val="2720"/>
              </a:lnSpc>
              <a:buFont typeface="Arial"/>
              <a:buChar char="•"/>
            </a:pPr>
            <a:r>
              <a:rPr lang="en-US" sz="1700">
                <a:solidFill>
                  <a:srgbClr val="2E2E2E"/>
                </a:solidFill>
                <a:latin typeface="Lora"/>
              </a:rPr>
              <a:t>During this workshop, participants will receive hands-on instruction and guidance, where we will cover the basics of the topic.</a:t>
            </a:r>
          </a:p>
          <a:p>
            <a:pPr marL="367031" lvl="1" indent="-183515">
              <a:lnSpc>
                <a:spcPts val="2720"/>
              </a:lnSpc>
              <a:buFont typeface="Arial"/>
              <a:buChar char="•"/>
            </a:pPr>
            <a:r>
              <a:rPr lang="en-US" sz="1700">
                <a:solidFill>
                  <a:srgbClr val="2E2E2E"/>
                </a:solidFill>
                <a:latin typeface="Lora"/>
              </a:rPr>
              <a:t>The workshop will span 2-3 hours, ensuring that participants gain a strong foundation in the subject matter.</a:t>
            </a:r>
          </a:p>
          <a:p>
            <a:pPr>
              <a:lnSpc>
                <a:spcPts val="2720"/>
              </a:lnSpc>
            </a:pPr>
            <a:endParaRPr lang="en-US" sz="1700">
              <a:solidFill>
                <a:srgbClr val="2E2E2E"/>
              </a:solidFill>
              <a:latin typeface="Lora"/>
            </a:endParaRPr>
          </a:p>
        </p:txBody>
      </p:sp>
      <p:sp>
        <p:nvSpPr>
          <p:cNvPr id="9" name="TextBox 9"/>
          <p:cNvSpPr txBox="1"/>
          <p:nvPr/>
        </p:nvSpPr>
        <p:spPr>
          <a:xfrm>
            <a:off x="10267379" y="5803082"/>
            <a:ext cx="5251928" cy="495301"/>
          </a:xfrm>
          <a:prstGeom prst="rect">
            <a:avLst/>
          </a:prstGeom>
        </p:spPr>
        <p:txBody>
          <a:bodyPr lIns="0" tIns="0" rIns="0" bIns="0" rtlCol="0" anchor="t">
            <a:spAutoFit/>
          </a:bodyPr>
          <a:lstStyle/>
          <a:p>
            <a:pPr>
              <a:lnSpc>
                <a:spcPts val="4199"/>
              </a:lnSpc>
            </a:pPr>
            <a:r>
              <a:rPr lang="en-US" sz="2999">
                <a:solidFill>
                  <a:srgbClr val="2E2E2E"/>
                </a:solidFill>
                <a:latin typeface="Lora Bold"/>
              </a:rPr>
              <a:t>Online Learning</a:t>
            </a:r>
          </a:p>
        </p:txBody>
      </p:sp>
      <p:sp>
        <p:nvSpPr>
          <p:cNvPr id="10" name="TextBox 10"/>
          <p:cNvSpPr txBox="1"/>
          <p:nvPr/>
        </p:nvSpPr>
        <p:spPr>
          <a:xfrm>
            <a:off x="10267379" y="6330133"/>
            <a:ext cx="7806683" cy="3575049"/>
          </a:xfrm>
          <a:prstGeom prst="rect">
            <a:avLst/>
          </a:prstGeom>
        </p:spPr>
        <p:txBody>
          <a:bodyPr lIns="0" tIns="0" rIns="0" bIns="0" rtlCol="0" anchor="t">
            <a:spAutoFit/>
          </a:bodyPr>
          <a:lstStyle/>
          <a:p>
            <a:pPr marL="431802" lvl="1" indent="-215901">
              <a:lnSpc>
                <a:spcPts val="3200"/>
              </a:lnSpc>
              <a:buFont typeface="Arial"/>
              <a:buChar char="•"/>
            </a:pPr>
            <a:r>
              <a:rPr lang="en-US" sz="2000">
                <a:solidFill>
                  <a:srgbClr val="2E2E2E"/>
                </a:solidFill>
                <a:latin typeface="Lora"/>
              </a:rPr>
              <a:t>Following the initial workshop, we are committed to facilitating ongoing learning and skill development.</a:t>
            </a:r>
          </a:p>
          <a:p>
            <a:pPr marL="431802" lvl="1" indent="-215901">
              <a:lnSpc>
                <a:spcPts val="3200"/>
              </a:lnSpc>
              <a:buFont typeface="Arial"/>
              <a:buChar char="•"/>
            </a:pPr>
            <a:r>
              <a:rPr lang="en-US" sz="2000">
                <a:solidFill>
                  <a:srgbClr val="2E2E2E"/>
                </a:solidFill>
                <a:latin typeface="Lora"/>
              </a:rPr>
              <a:t>To achieve this, we will maintain an active YouTube channel where participants can access a wealth of educational resources.</a:t>
            </a:r>
          </a:p>
          <a:p>
            <a:pPr marL="431802" lvl="1" indent="-215901">
              <a:lnSpc>
                <a:spcPts val="3200"/>
              </a:lnSpc>
              <a:buFont typeface="Arial"/>
              <a:buChar char="•"/>
            </a:pPr>
            <a:r>
              <a:rPr lang="en-US" sz="2000">
                <a:solidFill>
                  <a:srgbClr val="2E2E2E"/>
                </a:solidFill>
                <a:latin typeface="Lora"/>
              </a:rPr>
              <a:t>We will sharing informative videos, tutorials, and supplementary materials to support continuous learning and skill enhancement.</a:t>
            </a:r>
          </a:p>
          <a:p>
            <a:pPr>
              <a:lnSpc>
                <a:spcPts val="3200"/>
              </a:lnSpc>
            </a:pPr>
            <a:endParaRPr lang="en-US" sz="2000">
              <a:solidFill>
                <a:srgbClr val="2E2E2E"/>
              </a:solidFill>
              <a:latin typeface="Lora"/>
            </a:endParaRPr>
          </a:p>
        </p:txBody>
      </p:sp>
      <p:sp>
        <p:nvSpPr>
          <p:cNvPr id="11" name="Freeform 11"/>
          <p:cNvSpPr/>
          <p:nvPr/>
        </p:nvSpPr>
        <p:spPr>
          <a:xfrm rot="5242519" flipH="1">
            <a:off x="-1042019" y="8240279"/>
            <a:ext cx="8063091" cy="6553094"/>
          </a:xfrm>
          <a:custGeom>
            <a:avLst/>
            <a:gdLst/>
            <a:ahLst/>
            <a:cxnLst/>
            <a:rect l="l" t="t" r="r" b="b"/>
            <a:pathLst>
              <a:path w="8063091" h="6553094">
                <a:moveTo>
                  <a:pt x="8063091" y="0"/>
                </a:moveTo>
                <a:lnTo>
                  <a:pt x="0" y="0"/>
                </a:lnTo>
                <a:lnTo>
                  <a:pt x="0" y="6553094"/>
                </a:lnTo>
                <a:lnTo>
                  <a:pt x="8063091" y="6553094"/>
                </a:lnTo>
                <a:lnTo>
                  <a:pt x="8063091" y="0"/>
                </a:lnTo>
                <a:close/>
              </a:path>
            </a:pathLst>
          </a:custGeom>
          <a:blipFill>
            <a:blip r:embed="rId8">
              <a:alphaModFix amt="50000"/>
              <a:extLst>
                <a:ext uri="{96DAC541-7B7A-43D3-8B79-37D633B846F1}">
                  <asvg:svgBlip xmlns:asvg="http://schemas.microsoft.com/office/drawing/2016/SVG/main" r:embed="rId9"/>
                </a:ext>
              </a:extLst>
            </a:blip>
            <a:stretch>
              <a:fillRect/>
            </a:stretch>
          </a:blipFill>
        </p:spPr>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073461">
            <a:off x="-9281995" y="-5154521"/>
            <a:ext cx="17617704" cy="17617704"/>
          </a:xfrm>
          <a:custGeom>
            <a:avLst/>
            <a:gdLst/>
            <a:ahLst/>
            <a:cxnLst/>
            <a:rect l="l" t="t" r="r" b="b"/>
            <a:pathLst>
              <a:path w="17617704" h="17617704">
                <a:moveTo>
                  <a:pt x="0" y="0"/>
                </a:moveTo>
                <a:lnTo>
                  <a:pt x="17617703" y="0"/>
                </a:lnTo>
                <a:lnTo>
                  <a:pt x="17617703" y="17617703"/>
                </a:lnTo>
                <a:lnTo>
                  <a:pt x="0" y="17617703"/>
                </a:lnTo>
                <a:lnTo>
                  <a:pt x="0" y="0"/>
                </a:lnTo>
                <a:close/>
              </a:path>
            </a:pathLst>
          </a:custGeom>
          <a:blipFill>
            <a:blip r:embed="rId2">
              <a:alphaModFix amt="35000"/>
              <a:extLst>
                <a:ext uri="{96DAC541-7B7A-43D3-8B79-37D633B846F1}">
                  <asvg:svgBlip xmlns:asvg="http://schemas.microsoft.com/office/drawing/2016/SVG/main" r:embed="rId3"/>
                </a:ext>
              </a:extLst>
            </a:blip>
            <a:stretch>
              <a:fillRect/>
            </a:stretch>
          </a:blipFill>
        </p:spPr>
      </p:sp>
      <p:sp>
        <p:nvSpPr>
          <p:cNvPr id="5" name="Freeform 5"/>
          <p:cNvSpPr/>
          <p:nvPr/>
        </p:nvSpPr>
        <p:spPr>
          <a:xfrm rot="-5400000" flipH="1">
            <a:off x="8778703" y="-4549008"/>
            <a:ext cx="8063091" cy="6553094"/>
          </a:xfrm>
          <a:custGeom>
            <a:avLst/>
            <a:gdLst/>
            <a:ahLst/>
            <a:cxnLst/>
            <a:rect l="l" t="t" r="r" b="b"/>
            <a:pathLst>
              <a:path w="8063091" h="6553094">
                <a:moveTo>
                  <a:pt x="8063091" y="0"/>
                </a:moveTo>
                <a:lnTo>
                  <a:pt x="0" y="0"/>
                </a:lnTo>
                <a:lnTo>
                  <a:pt x="0" y="6553094"/>
                </a:lnTo>
                <a:lnTo>
                  <a:pt x="8063091" y="6553094"/>
                </a:lnTo>
                <a:lnTo>
                  <a:pt x="8063091" y="0"/>
                </a:lnTo>
                <a:close/>
              </a:path>
            </a:pathLst>
          </a:custGeom>
          <a:blipFill>
            <a:blip r:embed="rId4">
              <a:alphaModFix amt="50000"/>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1028700" y="1181100"/>
            <a:ext cx="5925612" cy="5099047"/>
          </a:xfrm>
          <a:prstGeom prst="rect">
            <a:avLst/>
          </a:prstGeom>
        </p:spPr>
        <p:txBody>
          <a:bodyPr lIns="0" tIns="0" rIns="0" bIns="0" rtlCol="0" anchor="t">
            <a:spAutoFit/>
          </a:bodyPr>
          <a:lstStyle/>
          <a:p>
            <a:pPr>
              <a:lnSpc>
                <a:spcPts val="7999"/>
              </a:lnSpc>
            </a:pPr>
            <a:r>
              <a:rPr lang="en-US" sz="7999">
                <a:solidFill>
                  <a:srgbClr val="004AAD"/>
                </a:solidFill>
                <a:latin typeface="Lora Bold"/>
              </a:rPr>
              <a:t>STAY INSPIRED. NEVER STOP LEARNING.</a:t>
            </a:r>
          </a:p>
        </p:txBody>
      </p:sp>
      <p:pic>
        <p:nvPicPr>
          <p:cNvPr id="9" name="Picture 8">
            <a:extLst>
              <a:ext uri="{FF2B5EF4-FFF2-40B4-BE49-F238E27FC236}">
                <a16:creationId xmlns:a16="http://schemas.microsoft.com/office/drawing/2014/main" id="{4EDF9E55-B430-FE72-7886-09EDA7A6717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20000" y="1714500"/>
            <a:ext cx="9892800" cy="65910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291073" y="4401750"/>
            <a:ext cx="11064353" cy="1731150"/>
          </a:xfrm>
          <a:prstGeom prst="rect">
            <a:avLst/>
          </a:prstGeom>
        </p:spPr>
        <p:txBody>
          <a:bodyPr lIns="0" tIns="0" rIns="0" bIns="0" rtlCol="0" anchor="t">
            <a:spAutoFit/>
          </a:bodyPr>
          <a:lstStyle/>
          <a:p>
            <a:pPr>
              <a:lnSpc>
                <a:spcPts val="13030"/>
              </a:lnSpc>
            </a:pPr>
            <a:r>
              <a:rPr lang="en-US" sz="13030" spc="-443">
                <a:solidFill>
                  <a:srgbClr val="004AAD"/>
                </a:solidFill>
                <a:latin typeface="Lora Bold"/>
              </a:rPr>
              <a:t>THANK YOU</a:t>
            </a:r>
          </a:p>
        </p:txBody>
      </p:sp>
      <p:sp>
        <p:nvSpPr>
          <p:cNvPr id="3" name="Freeform 3"/>
          <p:cNvSpPr/>
          <p:nvPr/>
        </p:nvSpPr>
        <p:spPr>
          <a:xfrm rot="-1766807">
            <a:off x="10460579" y="2341404"/>
            <a:ext cx="12112141" cy="9843868"/>
          </a:xfrm>
          <a:custGeom>
            <a:avLst/>
            <a:gdLst/>
            <a:ahLst/>
            <a:cxnLst/>
            <a:rect l="l" t="t" r="r" b="b"/>
            <a:pathLst>
              <a:path w="12112141" h="9843868">
                <a:moveTo>
                  <a:pt x="0" y="0"/>
                </a:moveTo>
                <a:lnTo>
                  <a:pt x="12112141" y="0"/>
                </a:lnTo>
                <a:lnTo>
                  <a:pt x="12112141" y="9843868"/>
                </a:lnTo>
                <a:lnTo>
                  <a:pt x="0" y="9843868"/>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TotalTime>
  <Words>809</Words>
  <Application>Microsoft Office PowerPoint</Application>
  <PresentationFormat>Custom</PresentationFormat>
  <Paragraphs>52</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Lora Bold</vt:lpstr>
      <vt:lpstr>Lora </vt:lpstr>
      <vt:lpstr>Times New Roman</vt:lpstr>
      <vt:lpstr>Calibri</vt:lpstr>
      <vt:lpstr>Lora</vt:lpstr>
      <vt:lpstr>Lora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Activity Center</dc:title>
  <dc:creator>BHARGAVI MUNAGALA</dc:creator>
  <cp:lastModifiedBy>BHARGAVI MUNAGALA</cp:lastModifiedBy>
  <cp:revision>8</cp:revision>
  <dcterms:created xsi:type="dcterms:W3CDTF">2006-08-16T00:00:00Z</dcterms:created>
  <dcterms:modified xsi:type="dcterms:W3CDTF">2025-04-07T07:04:23Z</dcterms:modified>
  <dc:identifier>DAFu2Ih_348</dc:identifier>
</cp:coreProperties>
</file>